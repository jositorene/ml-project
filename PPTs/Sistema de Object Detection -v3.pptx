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60" r:id="rId3"/>
    <p:sldId id="262" r:id="rId4"/>
    <p:sldId id="261" r:id="rId5"/>
    <p:sldId id="263" r:id="rId6"/>
    <p:sldId id="264" r:id="rId7"/>
  </p:sldIdLst>
  <p:sldSz cx="12192000" cy="6858000"/>
  <p:notesSz cx="6797675" cy="9926638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2" autoAdjust="0"/>
    <p:restoredTop sz="75816" autoAdjust="0"/>
  </p:normalViewPr>
  <p:slideViewPr>
    <p:cSldViewPr snapToGrid="0">
      <p:cViewPr varScale="1">
        <p:scale>
          <a:sx n="86" d="100"/>
          <a:sy n="86" d="100"/>
        </p:scale>
        <p:origin x="7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86410D-1450-4008-AB7D-25E8F3844D3C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F01A5311-9573-472D-8301-8A4EC921072B}">
      <dgm:prSet phldrT="[Texto]" custT="1"/>
      <dgm:spPr/>
      <dgm:t>
        <a:bodyPr/>
        <a:lstStyle/>
        <a:p>
          <a:pPr>
            <a:buNone/>
          </a:pPr>
          <a:r>
            <a:rPr lang="pt-BR" sz="1600" b="1" dirty="0" err="1">
              <a:latin typeface="Gill Sans MT" panose="020B0502020104020203" pitchFamily="34" charset="0"/>
            </a:rPr>
            <a:t>Datos</a:t>
          </a:r>
          <a:r>
            <a:rPr lang="pt-BR" sz="1600" b="1" dirty="0">
              <a:latin typeface="Gill Sans MT" panose="020B0502020104020203" pitchFamily="34" charset="0"/>
            </a:rPr>
            <a:t> (Data </a:t>
          </a:r>
          <a:r>
            <a:rPr lang="pt-BR" sz="1600" b="1" dirty="0" err="1">
              <a:latin typeface="Gill Sans MT" panose="020B0502020104020203" pitchFamily="34" charset="0"/>
            </a:rPr>
            <a:t>Engineering</a:t>
          </a:r>
          <a:r>
            <a:rPr lang="pt-BR" sz="1600" b="1" dirty="0">
              <a:latin typeface="Gill Sans MT" panose="020B0502020104020203" pitchFamily="34" charset="0"/>
            </a:rPr>
            <a:t>)</a:t>
          </a:r>
        </a:p>
        <a:p>
          <a:pPr>
            <a:buNone/>
          </a:pPr>
          <a:endParaRPr lang="es-ES" sz="1600" dirty="0"/>
        </a:p>
        <a:p>
          <a:pPr>
            <a:buNone/>
          </a:pPr>
          <a:endParaRPr lang="es-ES" sz="1600" dirty="0"/>
        </a:p>
        <a:p>
          <a:pPr>
            <a:buNone/>
          </a:pPr>
          <a:endParaRPr lang="es-ES" sz="1600" dirty="0"/>
        </a:p>
        <a:p>
          <a:pPr>
            <a:buNone/>
          </a:pPr>
          <a:endParaRPr lang="es-ES" sz="1600" dirty="0"/>
        </a:p>
        <a:p>
          <a:pPr>
            <a:buNone/>
          </a:pPr>
          <a:endParaRPr lang="es-ES" sz="1600" dirty="0"/>
        </a:p>
        <a:p>
          <a:pPr>
            <a:buNone/>
          </a:pPr>
          <a:endParaRPr lang="es-ES" sz="1600" dirty="0"/>
        </a:p>
      </dgm:t>
    </dgm:pt>
    <dgm:pt modelId="{96DE8A2C-6DC4-4B2F-AED8-BCE73C657CE2}" type="parTrans" cxnId="{80057E7E-C270-4A7C-8889-2341BAA5548C}">
      <dgm:prSet/>
      <dgm:spPr/>
      <dgm:t>
        <a:bodyPr/>
        <a:lstStyle/>
        <a:p>
          <a:endParaRPr lang="es-ES"/>
        </a:p>
      </dgm:t>
    </dgm:pt>
    <dgm:pt modelId="{72F0F7A4-EA2B-46D5-9775-CDBEAD6FF942}" type="sibTrans" cxnId="{80057E7E-C270-4A7C-8889-2341BAA5548C}">
      <dgm:prSet/>
      <dgm:spPr/>
      <dgm:t>
        <a:bodyPr/>
        <a:lstStyle/>
        <a:p>
          <a:endParaRPr lang="es-ES"/>
        </a:p>
      </dgm:t>
    </dgm:pt>
    <dgm:pt modelId="{FD067C0E-7AAA-4496-8E02-79FA9941E725}">
      <dgm:prSet phldrT="[Texto]" custT="1"/>
      <dgm:spPr/>
      <dgm:t>
        <a:bodyPr/>
        <a:lstStyle/>
        <a:p>
          <a:pPr>
            <a:buNone/>
          </a:pPr>
          <a:r>
            <a:rPr lang="es-ES" sz="1600" b="1" dirty="0">
              <a:latin typeface="Gill Sans MT" panose="020B0502020104020203" pitchFamily="34" charset="0"/>
            </a:rPr>
            <a:t>Selección y entrenamiento del modelo</a:t>
          </a:r>
        </a:p>
        <a:p>
          <a:pPr>
            <a:buNone/>
          </a:pPr>
          <a:endParaRPr lang="es-ES" sz="1600" b="1" dirty="0"/>
        </a:p>
        <a:p>
          <a:pPr>
            <a:buNone/>
          </a:pPr>
          <a:endParaRPr lang="es-ES" sz="1600" dirty="0"/>
        </a:p>
        <a:p>
          <a:pPr>
            <a:buNone/>
          </a:pPr>
          <a:endParaRPr lang="es-ES" sz="1600" dirty="0"/>
        </a:p>
        <a:p>
          <a:pPr>
            <a:buNone/>
          </a:pPr>
          <a:endParaRPr lang="es-ES" sz="1600" dirty="0"/>
        </a:p>
        <a:p>
          <a:pPr>
            <a:buNone/>
          </a:pPr>
          <a:endParaRPr lang="es-ES" sz="1600" dirty="0"/>
        </a:p>
        <a:p>
          <a:pPr>
            <a:buNone/>
          </a:pPr>
          <a:endParaRPr lang="es-ES" sz="1600" dirty="0"/>
        </a:p>
      </dgm:t>
    </dgm:pt>
    <dgm:pt modelId="{A35DA13B-EBA2-4856-8AF0-12AD7476B6E5}" type="parTrans" cxnId="{3BE1AC15-25B7-40AE-B549-C7965213C201}">
      <dgm:prSet/>
      <dgm:spPr/>
      <dgm:t>
        <a:bodyPr/>
        <a:lstStyle/>
        <a:p>
          <a:endParaRPr lang="es-ES"/>
        </a:p>
      </dgm:t>
    </dgm:pt>
    <dgm:pt modelId="{01BE936C-7B05-48C2-89F1-A619C63FCA47}" type="sibTrans" cxnId="{3BE1AC15-25B7-40AE-B549-C7965213C201}">
      <dgm:prSet/>
      <dgm:spPr/>
      <dgm:t>
        <a:bodyPr/>
        <a:lstStyle/>
        <a:p>
          <a:endParaRPr lang="es-ES"/>
        </a:p>
      </dgm:t>
    </dgm:pt>
    <dgm:pt modelId="{757B311D-C68F-4240-93D1-C26FFEAC3452}">
      <dgm:prSet phldrT="[Texto]" custT="1"/>
      <dgm:spPr/>
      <dgm:t>
        <a:bodyPr/>
        <a:lstStyle/>
        <a:p>
          <a:pPr>
            <a:buNone/>
          </a:pPr>
          <a:r>
            <a:rPr lang="es-ES" sz="1600" b="1" dirty="0">
              <a:latin typeface="Gill Sans MT" panose="020B0502020104020203" pitchFamily="34" charset="0"/>
            </a:rPr>
            <a:t>Evaluación y métricas</a:t>
          </a:r>
        </a:p>
        <a:p>
          <a:pPr>
            <a:buNone/>
          </a:pPr>
          <a:endParaRPr lang="es-ES" sz="1600" dirty="0"/>
        </a:p>
        <a:p>
          <a:pPr>
            <a:buNone/>
          </a:pPr>
          <a:endParaRPr lang="es-ES" sz="1600" dirty="0"/>
        </a:p>
        <a:p>
          <a:pPr>
            <a:buNone/>
          </a:pPr>
          <a:endParaRPr lang="es-ES" sz="1600" dirty="0"/>
        </a:p>
        <a:p>
          <a:pPr>
            <a:buNone/>
          </a:pPr>
          <a:endParaRPr lang="es-ES" sz="1600" dirty="0"/>
        </a:p>
        <a:p>
          <a:pPr>
            <a:buNone/>
          </a:pPr>
          <a:endParaRPr lang="es-ES" sz="1600" dirty="0"/>
        </a:p>
        <a:p>
          <a:pPr>
            <a:buNone/>
          </a:pPr>
          <a:endParaRPr lang="es-ES" sz="1600" dirty="0"/>
        </a:p>
      </dgm:t>
    </dgm:pt>
    <dgm:pt modelId="{2A54809B-EF12-4276-82AB-2C1D6540D3F6}" type="parTrans" cxnId="{0BE4E1C6-0B3B-4057-AE90-A05E3543F76E}">
      <dgm:prSet/>
      <dgm:spPr/>
      <dgm:t>
        <a:bodyPr/>
        <a:lstStyle/>
        <a:p>
          <a:endParaRPr lang="es-ES"/>
        </a:p>
      </dgm:t>
    </dgm:pt>
    <dgm:pt modelId="{BC4D0C92-7227-44AA-85CC-3751C122489C}" type="sibTrans" cxnId="{0BE4E1C6-0B3B-4057-AE90-A05E3543F76E}">
      <dgm:prSet/>
      <dgm:spPr/>
      <dgm:t>
        <a:bodyPr/>
        <a:lstStyle/>
        <a:p>
          <a:endParaRPr lang="es-ES"/>
        </a:p>
      </dgm:t>
    </dgm:pt>
    <dgm:pt modelId="{21A1F105-C44A-47D6-9318-9F4927A279FB}" type="pres">
      <dgm:prSet presAssocID="{5D86410D-1450-4008-AB7D-25E8F3844D3C}" presName="Name0" presStyleCnt="0">
        <dgm:presLayoutVars>
          <dgm:dir/>
          <dgm:resizeHandles val="exact"/>
        </dgm:presLayoutVars>
      </dgm:prSet>
      <dgm:spPr/>
    </dgm:pt>
    <dgm:pt modelId="{3CE9A554-C0B5-44DC-B963-0B63922D3692}" type="pres">
      <dgm:prSet presAssocID="{5D86410D-1450-4008-AB7D-25E8F3844D3C}" presName="arrow" presStyleLbl="bgShp" presStyleIdx="0" presStyleCnt="1"/>
      <dgm:spPr/>
    </dgm:pt>
    <dgm:pt modelId="{C70ED730-A906-4AC1-AB6E-BCB77AB8C173}" type="pres">
      <dgm:prSet presAssocID="{5D86410D-1450-4008-AB7D-25E8F3844D3C}" presName="points" presStyleCnt="0"/>
      <dgm:spPr/>
    </dgm:pt>
    <dgm:pt modelId="{8531B3B3-16E2-4A27-87EB-B9A6DFA68549}" type="pres">
      <dgm:prSet presAssocID="{F01A5311-9573-472D-8301-8A4EC921072B}" presName="compositeA" presStyleCnt="0"/>
      <dgm:spPr/>
    </dgm:pt>
    <dgm:pt modelId="{1FDD6AD8-A92B-49F4-8397-59265B481232}" type="pres">
      <dgm:prSet presAssocID="{F01A5311-9573-472D-8301-8A4EC921072B}" presName="textA" presStyleLbl="revTx" presStyleIdx="0" presStyleCnt="3" custScaleX="130624">
        <dgm:presLayoutVars>
          <dgm:bulletEnabled val="1"/>
        </dgm:presLayoutVars>
      </dgm:prSet>
      <dgm:spPr/>
    </dgm:pt>
    <dgm:pt modelId="{7ED905E7-3733-473F-921C-76E5C967F307}" type="pres">
      <dgm:prSet presAssocID="{F01A5311-9573-472D-8301-8A4EC921072B}" presName="circleA" presStyleLbl="node1" presStyleIdx="0" presStyleCnt="3"/>
      <dgm:spPr/>
    </dgm:pt>
    <dgm:pt modelId="{835C178A-6579-46C8-9A45-A6AD8B3E8548}" type="pres">
      <dgm:prSet presAssocID="{F01A5311-9573-472D-8301-8A4EC921072B}" presName="spaceA" presStyleCnt="0"/>
      <dgm:spPr/>
    </dgm:pt>
    <dgm:pt modelId="{50FF06B8-366D-49B5-BDC1-F1932D5B2806}" type="pres">
      <dgm:prSet presAssocID="{72F0F7A4-EA2B-46D5-9775-CDBEAD6FF942}" presName="space" presStyleCnt="0"/>
      <dgm:spPr/>
    </dgm:pt>
    <dgm:pt modelId="{BB9E1376-D3C4-45E6-80D0-0C963AD03CB3}" type="pres">
      <dgm:prSet presAssocID="{FD067C0E-7AAA-4496-8E02-79FA9941E725}" presName="compositeB" presStyleCnt="0"/>
      <dgm:spPr/>
    </dgm:pt>
    <dgm:pt modelId="{E25D6718-64E9-453E-9F40-0B2FAF8EB9E4}" type="pres">
      <dgm:prSet presAssocID="{FD067C0E-7AAA-4496-8E02-79FA9941E725}" presName="textB" presStyleLbl="revTx" presStyleIdx="1" presStyleCnt="3" custScaleX="164033" custLinFactNeighborX="-11973">
        <dgm:presLayoutVars>
          <dgm:bulletEnabled val="1"/>
        </dgm:presLayoutVars>
      </dgm:prSet>
      <dgm:spPr/>
    </dgm:pt>
    <dgm:pt modelId="{F85D4DA9-C479-4380-94F0-FCDBCD9FF903}" type="pres">
      <dgm:prSet presAssocID="{FD067C0E-7AAA-4496-8E02-79FA9941E725}" presName="circleB" presStyleLbl="node1" presStyleIdx="1" presStyleCnt="3"/>
      <dgm:spPr/>
    </dgm:pt>
    <dgm:pt modelId="{9F93C608-4DA1-48CF-A54C-01FC80E2F524}" type="pres">
      <dgm:prSet presAssocID="{FD067C0E-7AAA-4496-8E02-79FA9941E725}" presName="spaceB" presStyleCnt="0"/>
      <dgm:spPr/>
    </dgm:pt>
    <dgm:pt modelId="{1D89A139-B38B-4A2A-9AFC-1D32617D71BD}" type="pres">
      <dgm:prSet presAssocID="{01BE936C-7B05-48C2-89F1-A619C63FCA47}" presName="space" presStyleCnt="0"/>
      <dgm:spPr/>
    </dgm:pt>
    <dgm:pt modelId="{377E0766-92EF-4C75-B5B1-253DA15EC8E1}" type="pres">
      <dgm:prSet presAssocID="{757B311D-C68F-4240-93D1-C26FFEAC3452}" presName="compositeA" presStyleCnt="0"/>
      <dgm:spPr/>
    </dgm:pt>
    <dgm:pt modelId="{ABEFC291-707E-47FE-B153-9C4E3B127EAB}" type="pres">
      <dgm:prSet presAssocID="{757B311D-C68F-4240-93D1-C26FFEAC3452}" presName="textA" presStyleLbl="revTx" presStyleIdx="2" presStyleCnt="3">
        <dgm:presLayoutVars>
          <dgm:bulletEnabled val="1"/>
        </dgm:presLayoutVars>
      </dgm:prSet>
      <dgm:spPr/>
    </dgm:pt>
    <dgm:pt modelId="{907F188E-F1F5-4701-9940-ADC5269775B4}" type="pres">
      <dgm:prSet presAssocID="{757B311D-C68F-4240-93D1-C26FFEAC3452}" presName="circleA" presStyleLbl="node1" presStyleIdx="2" presStyleCnt="3"/>
      <dgm:spPr/>
    </dgm:pt>
    <dgm:pt modelId="{B8D2AA6B-9D43-4CF2-806C-76D5A112EEB9}" type="pres">
      <dgm:prSet presAssocID="{757B311D-C68F-4240-93D1-C26FFEAC3452}" presName="spaceA" presStyleCnt="0"/>
      <dgm:spPr/>
    </dgm:pt>
  </dgm:ptLst>
  <dgm:cxnLst>
    <dgm:cxn modelId="{3BE1AC15-25B7-40AE-B549-C7965213C201}" srcId="{5D86410D-1450-4008-AB7D-25E8F3844D3C}" destId="{FD067C0E-7AAA-4496-8E02-79FA9941E725}" srcOrd="1" destOrd="0" parTransId="{A35DA13B-EBA2-4856-8AF0-12AD7476B6E5}" sibTransId="{01BE936C-7B05-48C2-89F1-A619C63FCA47}"/>
    <dgm:cxn modelId="{5CBF9F48-36D2-4BB3-9188-C1576EE93042}" type="presOf" srcId="{757B311D-C68F-4240-93D1-C26FFEAC3452}" destId="{ABEFC291-707E-47FE-B153-9C4E3B127EAB}" srcOrd="0" destOrd="0" presId="urn:microsoft.com/office/officeart/2005/8/layout/hProcess11"/>
    <dgm:cxn modelId="{80057E7E-C270-4A7C-8889-2341BAA5548C}" srcId="{5D86410D-1450-4008-AB7D-25E8F3844D3C}" destId="{F01A5311-9573-472D-8301-8A4EC921072B}" srcOrd="0" destOrd="0" parTransId="{96DE8A2C-6DC4-4B2F-AED8-BCE73C657CE2}" sibTransId="{72F0F7A4-EA2B-46D5-9775-CDBEAD6FF942}"/>
    <dgm:cxn modelId="{70B756BD-EF06-496A-8FC3-492B19ECEDEB}" type="presOf" srcId="{FD067C0E-7AAA-4496-8E02-79FA9941E725}" destId="{E25D6718-64E9-453E-9F40-0B2FAF8EB9E4}" srcOrd="0" destOrd="0" presId="urn:microsoft.com/office/officeart/2005/8/layout/hProcess11"/>
    <dgm:cxn modelId="{0BE4E1C6-0B3B-4057-AE90-A05E3543F76E}" srcId="{5D86410D-1450-4008-AB7D-25E8F3844D3C}" destId="{757B311D-C68F-4240-93D1-C26FFEAC3452}" srcOrd="2" destOrd="0" parTransId="{2A54809B-EF12-4276-82AB-2C1D6540D3F6}" sibTransId="{BC4D0C92-7227-44AA-85CC-3751C122489C}"/>
    <dgm:cxn modelId="{3CDF74C8-8181-4437-BAB2-B396E751E5EE}" type="presOf" srcId="{F01A5311-9573-472D-8301-8A4EC921072B}" destId="{1FDD6AD8-A92B-49F4-8397-59265B481232}" srcOrd="0" destOrd="0" presId="urn:microsoft.com/office/officeart/2005/8/layout/hProcess11"/>
    <dgm:cxn modelId="{6607EDFF-AE9D-4A88-A583-4F9E7A357E9F}" type="presOf" srcId="{5D86410D-1450-4008-AB7D-25E8F3844D3C}" destId="{21A1F105-C44A-47D6-9318-9F4927A279FB}" srcOrd="0" destOrd="0" presId="urn:microsoft.com/office/officeart/2005/8/layout/hProcess11"/>
    <dgm:cxn modelId="{858B252F-8D9C-40EA-AE99-36B76F79A4BD}" type="presParOf" srcId="{21A1F105-C44A-47D6-9318-9F4927A279FB}" destId="{3CE9A554-C0B5-44DC-B963-0B63922D3692}" srcOrd="0" destOrd="0" presId="urn:microsoft.com/office/officeart/2005/8/layout/hProcess11"/>
    <dgm:cxn modelId="{B19E98BE-433E-4D5F-8174-9402ED4F9D77}" type="presParOf" srcId="{21A1F105-C44A-47D6-9318-9F4927A279FB}" destId="{C70ED730-A906-4AC1-AB6E-BCB77AB8C173}" srcOrd="1" destOrd="0" presId="urn:microsoft.com/office/officeart/2005/8/layout/hProcess11"/>
    <dgm:cxn modelId="{F67ADE6A-5836-403F-8241-1BC34A65EC64}" type="presParOf" srcId="{C70ED730-A906-4AC1-AB6E-BCB77AB8C173}" destId="{8531B3B3-16E2-4A27-87EB-B9A6DFA68549}" srcOrd="0" destOrd="0" presId="urn:microsoft.com/office/officeart/2005/8/layout/hProcess11"/>
    <dgm:cxn modelId="{0BEAFD48-BD45-4644-8766-DCF3AB59CAFA}" type="presParOf" srcId="{8531B3B3-16E2-4A27-87EB-B9A6DFA68549}" destId="{1FDD6AD8-A92B-49F4-8397-59265B481232}" srcOrd="0" destOrd="0" presId="urn:microsoft.com/office/officeart/2005/8/layout/hProcess11"/>
    <dgm:cxn modelId="{A30A98CD-E50F-4D9F-90DC-890C1A150E3B}" type="presParOf" srcId="{8531B3B3-16E2-4A27-87EB-B9A6DFA68549}" destId="{7ED905E7-3733-473F-921C-76E5C967F307}" srcOrd="1" destOrd="0" presId="urn:microsoft.com/office/officeart/2005/8/layout/hProcess11"/>
    <dgm:cxn modelId="{25E79CEA-95BF-4EBD-BA79-466832A59D5C}" type="presParOf" srcId="{8531B3B3-16E2-4A27-87EB-B9A6DFA68549}" destId="{835C178A-6579-46C8-9A45-A6AD8B3E8548}" srcOrd="2" destOrd="0" presId="urn:microsoft.com/office/officeart/2005/8/layout/hProcess11"/>
    <dgm:cxn modelId="{34CE4985-39DB-4CAC-B3FB-6F86FA4AF2F3}" type="presParOf" srcId="{C70ED730-A906-4AC1-AB6E-BCB77AB8C173}" destId="{50FF06B8-366D-49B5-BDC1-F1932D5B2806}" srcOrd="1" destOrd="0" presId="urn:microsoft.com/office/officeart/2005/8/layout/hProcess11"/>
    <dgm:cxn modelId="{798C6C9F-6972-452C-A112-CA1D74D87732}" type="presParOf" srcId="{C70ED730-A906-4AC1-AB6E-BCB77AB8C173}" destId="{BB9E1376-D3C4-45E6-80D0-0C963AD03CB3}" srcOrd="2" destOrd="0" presId="urn:microsoft.com/office/officeart/2005/8/layout/hProcess11"/>
    <dgm:cxn modelId="{F7AD0D32-ED81-4D5A-9C46-8B46C26A33FC}" type="presParOf" srcId="{BB9E1376-D3C4-45E6-80D0-0C963AD03CB3}" destId="{E25D6718-64E9-453E-9F40-0B2FAF8EB9E4}" srcOrd="0" destOrd="0" presId="urn:microsoft.com/office/officeart/2005/8/layout/hProcess11"/>
    <dgm:cxn modelId="{8C24F21C-A45F-4B35-B3A8-C496D3E30580}" type="presParOf" srcId="{BB9E1376-D3C4-45E6-80D0-0C963AD03CB3}" destId="{F85D4DA9-C479-4380-94F0-FCDBCD9FF903}" srcOrd="1" destOrd="0" presId="urn:microsoft.com/office/officeart/2005/8/layout/hProcess11"/>
    <dgm:cxn modelId="{E24D4AAB-FF36-4B8A-B577-592A152F8205}" type="presParOf" srcId="{BB9E1376-D3C4-45E6-80D0-0C963AD03CB3}" destId="{9F93C608-4DA1-48CF-A54C-01FC80E2F524}" srcOrd="2" destOrd="0" presId="urn:microsoft.com/office/officeart/2005/8/layout/hProcess11"/>
    <dgm:cxn modelId="{5E945677-03BB-4B8D-B73F-CA38C1549E45}" type="presParOf" srcId="{C70ED730-A906-4AC1-AB6E-BCB77AB8C173}" destId="{1D89A139-B38B-4A2A-9AFC-1D32617D71BD}" srcOrd="3" destOrd="0" presId="urn:microsoft.com/office/officeart/2005/8/layout/hProcess11"/>
    <dgm:cxn modelId="{CD1C4D11-C8AC-4EA1-A903-8A9DE2FC92EE}" type="presParOf" srcId="{C70ED730-A906-4AC1-AB6E-BCB77AB8C173}" destId="{377E0766-92EF-4C75-B5B1-253DA15EC8E1}" srcOrd="4" destOrd="0" presId="urn:microsoft.com/office/officeart/2005/8/layout/hProcess11"/>
    <dgm:cxn modelId="{1620490B-7D5F-4D05-ABE2-314946155D62}" type="presParOf" srcId="{377E0766-92EF-4C75-B5B1-253DA15EC8E1}" destId="{ABEFC291-707E-47FE-B153-9C4E3B127EAB}" srcOrd="0" destOrd="0" presId="urn:microsoft.com/office/officeart/2005/8/layout/hProcess11"/>
    <dgm:cxn modelId="{24815820-20D4-4EF8-9F46-FB882378661B}" type="presParOf" srcId="{377E0766-92EF-4C75-B5B1-253DA15EC8E1}" destId="{907F188E-F1F5-4701-9940-ADC5269775B4}" srcOrd="1" destOrd="0" presId="urn:microsoft.com/office/officeart/2005/8/layout/hProcess11"/>
    <dgm:cxn modelId="{434483B6-10BA-4681-8764-04227FA9C633}" type="presParOf" srcId="{377E0766-92EF-4C75-B5B1-253DA15EC8E1}" destId="{B8D2AA6B-9D43-4CF2-806C-76D5A112EEB9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D86410D-1450-4008-AB7D-25E8F3844D3C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F01A5311-9573-472D-8301-8A4EC921072B}">
      <dgm:prSet phldrT="[Texto]" custT="1"/>
      <dgm:spPr/>
      <dgm:t>
        <a:bodyPr/>
        <a:lstStyle/>
        <a:p>
          <a:pPr>
            <a:buNone/>
          </a:pPr>
          <a:r>
            <a:rPr lang="pt-BR" sz="1600" b="1" dirty="0" err="1">
              <a:latin typeface="Gill Sans MT" panose="020B0502020104020203" pitchFamily="34" charset="0"/>
            </a:rPr>
            <a:t>Datos</a:t>
          </a:r>
          <a:r>
            <a:rPr lang="pt-BR" sz="1600" b="1" dirty="0">
              <a:latin typeface="Gill Sans MT" panose="020B0502020104020203" pitchFamily="34" charset="0"/>
            </a:rPr>
            <a:t> (Data </a:t>
          </a:r>
          <a:r>
            <a:rPr lang="pt-BR" sz="1600" b="1" dirty="0" err="1">
              <a:latin typeface="Gill Sans MT" panose="020B0502020104020203" pitchFamily="34" charset="0"/>
            </a:rPr>
            <a:t>Engineering</a:t>
          </a:r>
          <a:r>
            <a:rPr lang="pt-BR" sz="1600" b="1" dirty="0">
              <a:latin typeface="Gill Sans MT" panose="020B0502020104020203" pitchFamily="34" charset="0"/>
            </a:rPr>
            <a:t>)</a:t>
          </a:r>
          <a:endParaRPr lang="es-ES" sz="1600" dirty="0"/>
        </a:p>
      </dgm:t>
    </dgm:pt>
    <dgm:pt modelId="{96DE8A2C-6DC4-4B2F-AED8-BCE73C657CE2}" type="parTrans" cxnId="{80057E7E-C270-4A7C-8889-2341BAA5548C}">
      <dgm:prSet/>
      <dgm:spPr/>
      <dgm:t>
        <a:bodyPr/>
        <a:lstStyle/>
        <a:p>
          <a:endParaRPr lang="es-ES"/>
        </a:p>
      </dgm:t>
    </dgm:pt>
    <dgm:pt modelId="{72F0F7A4-EA2B-46D5-9775-CDBEAD6FF942}" type="sibTrans" cxnId="{80057E7E-C270-4A7C-8889-2341BAA5548C}">
      <dgm:prSet/>
      <dgm:spPr/>
      <dgm:t>
        <a:bodyPr/>
        <a:lstStyle/>
        <a:p>
          <a:endParaRPr lang="es-ES"/>
        </a:p>
      </dgm:t>
    </dgm:pt>
    <dgm:pt modelId="{FD067C0E-7AAA-4496-8E02-79FA9941E725}">
      <dgm:prSet phldrT="[Texto]" custT="1"/>
      <dgm:spPr/>
      <dgm:t>
        <a:bodyPr/>
        <a:lstStyle/>
        <a:p>
          <a:pPr>
            <a:buNone/>
          </a:pPr>
          <a:r>
            <a:rPr lang="es-ES" sz="1600" b="1" dirty="0">
              <a:latin typeface="Gill Sans MT" panose="020B0502020104020203" pitchFamily="34" charset="0"/>
            </a:rPr>
            <a:t>Selección y entrenamiento del modelo</a:t>
          </a:r>
        </a:p>
      </dgm:t>
    </dgm:pt>
    <dgm:pt modelId="{A35DA13B-EBA2-4856-8AF0-12AD7476B6E5}" type="parTrans" cxnId="{3BE1AC15-25B7-40AE-B549-C7965213C201}">
      <dgm:prSet/>
      <dgm:spPr/>
      <dgm:t>
        <a:bodyPr/>
        <a:lstStyle/>
        <a:p>
          <a:endParaRPr lang="es-ES"/>
        </a:p>
      </dgm:t>
    </dgm:pt>
    <dgm:pt modelId="{01BE936C-7B05-48C2-89F1-A619C63FCA47}" type="sibTrans" cxnId="{3BE1AC15-25B7-40AE-B549-C7965213C201}">
      <dgm:prSet/>
      <dgm:spPr/>
      <dgm:t>
        <a:bodyPr/>
        <a:lstStyle/>
        <a:p>
          <a:endParaRPr lang="es-ES"/>
        </a:p>
      </dgm:t>
    </dgm:pt>
    <dgm:pt modelId="{757B311D-C68F-4240-93D1-C26FFEAC3452}">
      <dgm:prSet phldrT="[Texto]" custT="1"/>
      <dgm:spPr/>
      <dgm:t>
        <a:bodyPr/>
        <a:lstStyle/>
        <a:p>
          <a:pPr>
            <a:buNone/>
          </a:pPr>
          <a:r>
            <a:rPr lang="es-ES" sz="1600" b="1" dirty="0">
              <a:latin typeface="Gill Sans MT" panose="020B0502020104020203" pitchFamily="34" charset="0"/>
            </a:rPr>
            <a:t>Evaluación y métricas</a:t>
          </a:r>
          <a:endParaRPr lang="es-ES" sz="1600" dirty="0"/>
        </a:p>
      </dgm:t>
    </dgm:pt>
    <dgm:pt modelId="{2A54809B-EF12-4276-82AB-2C1D6540D3F6}" type="parTrans" cxnId="{0BE4E1C6-0B3B-4057-AE90-A05E3543F76E}">
      <dgm:prSet/>
      <dgm:spPr/>
      <dgm:t>
        <a:bodyPr/>
        <a:lstStyle/>
        <a:p>
          <a:endParaRPr lang="es-ES"/>
        </a:p>
      </dgm:t>
    </dgm:pt>
    <dgm:pt modelId="{BC4D0C92-7227-44AA-85CC-3751C122489C}" type="sibTrans" cxnId="{0BE4E1C6-0B3B-4057-AE90-A05E3543F76E}">
      <dgm:prSet/>
      <dgm:spPr/>
      <dgm:t>
        <a:bodyPr/>
        <a:lstStyle/>
        <a:p>
          <a:endParaRPr lang="es-ES"/>
        </a:p>
      </dgm:t>
    </dgm:pt>
    <dgm:pt modelId="{21A1F105-C44A-47D6-9318-9F4927A279FB}" type="pres">
      <dgm:prSet presAssocID="{5D86410D-1450-4008-AB7D-25E8F3844D3C}" presName="Name0" presStyleCnt="0">
        <dgm:presLayoutVars>
          <dgm:dir/>
          <dgm:resizeHandles val="exact"/>
        </dgm:presLayoutVars>
      </dgm:prSet>
      <dgm:spPr/>
    </dgm:pt>
    <dgm:pt modelId="{3CE9A554-C0B5-44DC-B963-0B63922D3692}" type="pres">
      <dgm:prSet presAssocID="{5D86410D-1450-4008-AB7D-25E8F3844D3C}" presName="arrow" presStyleLbl="bgShp" presStyleIdx="0" presStyleCnt="1"/>
      <dgm:spPr/>
    </dgm:pt>
    <dgm:pt modelId="{C70ED730-A906-4AC1-AB6E-BCB77AB8C173}" type="pres">
      <dgm:prSet presAssocID="{5D86410D-1450-4008-AB7D-25E8F3844D3C}" presName="points" presStyleCnt="0"/>
      <dgm:spPr/>
    </dgm:pt>
    <dgm:pt modelId="{8531B3B3-16E2-4A27-87EB-B9A6DFA68549}" type="pres">
      <dgm:prSet presAssocID="{F01A5311-9573-472D-8301-8A4EC921072B}" presName="compositeA" presStyleCnt="0"/>
      <dgm:spPr/>
    </dgm:pt>
    <dgm:pt modelId="{1FDD6AD8-A92B-49F4-8397-59265B481232}" type="pres">
      <dgm:prSet presAssocID="{F01A5311-9573-472D-8301-8A4EC921072B}" presName="textA" presStyleLbl="revTx" presStyleIdx="0" presStyleCnt="3" custScaleX="188563">
        <dgm:presLayoutVars>
          <dgm:bulletEnabled val="1"/>
        </dgm:presLayoutVars>
      </dgm:prSet>
      <dgm:spPr/>
    </dgm:pt>
    <dgm:pt modelId="{7ED905E7-3733-473F-921C-76E5C967F307}" type="pres">
      <dgm:prSet presAssocID="{F01A5311-9573-472D-8301-8A4EC921072B}" presName="circleA" presStyleLbl="node1" presStyleIdx="0" presStyleCnt="3"/>
      <dgm:spPr/>
    </dgm:pt>
    <dgm:pt modelId="{835C178A-6579-46C8-9A45-A6AD8B3E8548}" type="pres">
      <dgm:prSet presAssocID="{F01A5311-9573-472D-8301-8A4EC921072B}" presName="spaceA" presStyleCnt="0"/>
      <dgm:spPr/>
    </dgm:pt>
    <dgm:pt modelId="{50FF06B8-366D-49B5-BDC1-F1932D5B2806}" type="pres">
      <dgm:prSet presAssocID="{72F0F7A4-EA2B-46D5-9775-CDBEAD6FF942}" presName="space" presStyleCnt="0"/>
      <dgm:spPr/>
    </dgm:pt>
    <dgm:pt modelId="{BB9E1376-D3C4-45E6-80D0-0C963AD03CB3}" type="pres">
      <dgm:prSet presAssocID="{FD067C0E-7AAA-4496-8E02-79FA9941E725}" presName="compositeB" presStyleCnt="0"/>
      <dgm:spPr/>
    </dgm:pt>
    <dgm:pt modelId="{E25D6718-64E9-453E-9F40-0B2FAF8EB9E4}" type="pres">
      <dgm:prSet presAssocID="{FD067C0E-7AAA-4496-8E02-79FA9941E725}" presName="textB" presStyleLbl="revTx" presStyleIdx="1" presStyleCnt="3" custScaleX="173474" custLinFactNeighborX="-11973">
        <dgm:presLayoutVars>
          <dgm:bulletEnabled val="1"/>
        </dgm:presLayoutVars>
      </dgm:prSet>
      <dgm:spPr/>
    </dgm:pt>
    <dgm:pt modelId="{F85D4DA9-C479-4380-94F0-FCDBCD9FF903}" type="pres">
      <dgm:prSet presAssocID="{FD067C0E-7AAA-4496-8E02-79FA9941E725}" presName="circleB" presStyleLbl="node1" presStyleIdx="1" presStyleCnt="3"/>
      <dgm:spPr/>
    </dgm:pt>
    <dgm:pt modelId="{9F93C608-4DA1-48CF-A54C-01FC80E2F524}" type="pres">
      <dgm:prSet presAssocID="{FD067C0E-7AAA-4496-8E02-79FA9941E725}" presName="spaceB" presStyleCnt="0"/>
      <dgm:spPr/>
    </dgm:pt>
    <dgm:pt modelId="{1D89A139-B38B-4A2A-9AFC-1D32617D71BD}" type="pres">
      <dgm:prSet presAssocID="{01BE936C-7B05-48C2-89F1-A619C63FCA47}" presName="space" presStyleCnt="0"/>
      <dgm:spPr/>
    </dgm:pt>
    <dgm:pt modelId="{377E0766-92EF-4C75-B5B1-253DA15EC8E1}" type="pres">
      <dgm:prSet presAssocID="{757B311D-C68F-4240-93D1-C26FFEAC3452}" presName="compositeA" presStyleCnt="0"/>
      <dgm:spPr/>
    </dgm:pt>
    <dgm:pt modelId="{ABEFC291-707E-47FE-B153-9C4E3B127EAB}" type="pres">
      <dgm:prSet presAssocID="{757B311D-C68F-4240-93D1-C26FFEAC3452}" presName="textA" presStyleLbl="revTx" presStyleIdx="2" presStyleCnt="3" custScaleX="125308">
        <dgm:presLayoutVars>
          <dgm:bulletEnabled val="1"/>
        </dgm:presLayoutVars>
      </dgm:prSet>
      <dgm:spPr/>
    </dgm:pt>
    <dgm:pt modelId="{907F188E-F1F5-4701-9940-ADC5269775B4}" type="pres">
      <dgm:prSet presAssocID="{757B311D-C68F-4240-93D1-C26FFEAC3452}" presName="circleA" presStyleLbl="node1" presStyleIdx="2" presStyleCnt="3"/>
      <dgm:spPr/>
    </dgm:pt>
    <dgm:pt modelId="{B8D2AA6B-9D43-4CF2-806C-76D5A112EEB9}" type="pres">
      <dgm:prSet presAssocID="{757B311D-C68F-4240-93D1-C26FFEAC3452}" presName="spaceA" presStyleCnt="0"/>
      <dgm:spPr/>
    </dgm:pt>
  </dgm:ptLst>
  <dgm:cxnLst>
    <dgm:cxn modelId="{3BE1AC15-25B7-40AE-B549-C7965213C201}" srcId="{5D86410D-1450-4008-AB7D-25E8F3844D3C}" destId="{FD067C0E-7AAA-4496-8E02-79FA9941E725}" srcOrd="1" destOrd="0" parTransId="{A35DA13B-EBA2-4856-8AF0-12AD7476B6E5}" sibTransId="{01BE936C-7B05-48C2-89F1-A619C63FCA47}"/>
    <dgm:cxn modelId="{5CBF9F48-36D2-4BB3-9188-C1576EE93042}" type="presOf" srcId="{757B311D-C68F-4240-93D1-C26FFEAC3452}" destId="{ABEFC291-707E-47FE-B153-9C4E3B127EAB}" srcOrd="0" destOrd="0" presId="urn:microsoft.com/office/officeart/2005/8/layout/hProcess11"/>
    <dgm:cxn modelId="{80057E7E-C270-4A7C-8889-2341BAA5548C}" srcId="{5D86410D-1450-4008-AB7D-25E8F3844D3C}" destId="{F01A5311-9573-472D-8301-8A4EC921072B}" srcOrd="0" destOrd="0" parTransId="{96DE8A2C-6DC4-4B2F-AED8-BCE73C657CE2}" sibTransId="{72F0F7A4-EA2B-46D5-9775-CDBEAD6FF942}"/>
    <dgm:cxn modelId="{70B756BD-EF06-496A-8FC3-492B19ECEDEB}" type="presOf" srcId="{FD067C0E-7AAA-4496-8E02-79FA9941E725}" destId="{E25D6718-64E9-453E-9F40-0B2FAF8EB9E4}" srcOrd="0" destOrd="0" presId="urn:microsoft.com/office/officeart/2005/8/layout/hProcess11"/>
    <dgm:cxn modelId="{0BE4E1C6-0B3B-4057-AE90-A05E3543F76E}" srcId="{5D86410D-1450-4008-AB7D-25E8F3844D3C}" destId="{757B311D-C68F-4240-93D1-C26FFEAC3452}" srcOrd="2" destOrd="0" parTransId="{2A54809B-EF12-4276-82AB-2C1D6540D3F6}" sibTransId="{BC4D0C92-7227-44AA-85CC-3751C122489C}"/>
    <dgm:cxn modelId="{3CDF74C8-8181-4437-BAB2-B396E751E5EE}" type="presOf" srcId="{F01A5311-9573-472D-8301-8A4EC921072B}" destId="{1FDD6AD8-A92B-49F4-8397-59265B481232}" srcOrd="0" destOrd="0" presId="urn:microsoft.com/office/officeart/2005/8/layout/hProcess11"/>
    <dgm:cxn modelId="{6607EDFF-AE9D-4A88-A583-4F9E7A357E9F}" type="presOf" srcId="{5D86410D-1450-4008-AB7D-25E8F3844D3C}" destId="{21A1F105-C44A-47D6-9318-9F4927A279FB}" srcOrd="0" destOrd="0" presId="urn:microsoft.com/office/officeart/2005/8/layout/hProcess11"/>
    <dgm:cxn modelId="{858B252F-8D9C-40EA-AE99-36B76F79A4BD}" type="presParOf" srcId="{21A1F105-C44A-47D6-9318-9F4927A279FB}" destId="{3CE9A554-C0B5-44DC-B963-0B63922D3692}" srcOrd="0" destOrd="0" presId="urn:microsoft.com/office/officeart/2005/8/layout/hProcess11"/>
    <dgm:cxn modelId="{B19E98BE-433E-4D5F-8174-9402ED4F9D77}" type="presParOf" srcId="{21A1F105-C44A-47D6-9318-9F4927A279FB}" destId="{C70ED730-A906-4AC1-AB6E-BCB77AB8C173}" srcOrd="1" destOrd="0" presId="urn:microsoft.com/office/officeart/2005/8/layout/hProcess11"/>
    <dgm:cxn modelId="{F67ADE6A-5836-403F-8241-1BC34A65EC64}" type="presParOf" srcId="{C70ED730-A906-4AC1-AB6E-BCB77AB8C173}" destId="{8531B3B3-16E2-4A27-87EB-B9A6DFA68549}" srcOrd="0" destOrd="0" presId="urn:microsoft.com/office/officeart/2005/8/layout/hProcess11"/>
    <dgm:cxn modelId="{0BEAFD48-BD45-4644-8766-DCF3AB59CAFA}" type="presParOf" srcId="{8531B3B3-16E2-4A27-87EB-B9A6DFA68549}" destId="{1FDD6AD8-A92B-49F4-8397-59265B481232}" srcOrd="0" destOrd="0" presId="urn:microsoft.com/office/officeart/2005/8/layout/hProcess11"/>
    <dgm:cxn modelId="{A30A98CD-E50F-4D9F-90DC-890C1A150E3B}" type="presParOf" srcId="{8531B3B3-16E2-4A27-87EB-B9A6DFA68549}" destId="{7ED905E7-3733-473F-921C-76E5C967F307}" srcOrd="1" destOrd="0" presId="urn:microsoft.com/office/officeart/2005/8/layout/hProcess11"/>
    <dgm:cxn modelId="{25E79CEA-95BF-4EBD-BA79-466832A59D5C}" type="presParOf" srcId="{8531B3B3-16E2-4A27-87EB-B9A6DFA68549}" destId="{835C178A-6579-46C8-9A45-A6AD8B3E8548}" srcOrd="2" destOrd="0" presId="urn:microsoft.com/office/officeart/2005/8/layout/hProcess11"/>
    <dgm:cxn modelId="{34CE4985-39DB-4CAC-B3FB-6F86FA4AF2F3}" type="presParOf" srcId="{C70ED730-A906-4AC1-AB6E-BCB77AB8C173}" destId="{50FF06B8-366D-49B5-BDC1-F1932D5B2806}" srcOrd="1" destOrd="0" presId="urn:microsoft.com/office/officeart/2005/8/layout/hProcess11"/>
    <dgm:cxn modelId="{798C6C9F-6972-452C-A112-CA1D74D87732}" type="presParOf" srcId="{C70ED730-A906-4AC1-AB6E-BCB77AB8C173}" destId="{BB9E1376-D3C4-45E6-80D0-0C963AD03CB3}" srcOrd="2" destOrd="0" presId="urn:microsoft.com/office/officeart/2005/8/layout/hProcess11"/>
    <dgm:cxn modelId="{F7AD0D32-ED81-4D5A-9C46-8B46C26A33FC}" type="presParOf" srcId="{BB9E1376-D3C4-45E6-80D0-0C963AD03CB3}" destId="{E25D6718-64E9-453E-9F40-0B2FAF8EB9E4}" srcOrd="0" destOrd="0" presId="urn:microsoft.com/office/officeart/2005/8/layout/hProcess11"/>
    <dgm:cxn modelId="{8C24F21C-A45F-4B35-B3A8-C496D3E30580}" type="presParOf" srcId="{BB9E1376-D3C4-45E6-80D0-0C963AD03CB3}" destId="{F85D4DA9-C479-4380-94F0-FCDBCD9FF903}" srcOrd="1" destOrd="0" presId="urn:microsoft.com/office/officeart/2005/8/layout/hProcess11"/>
    <dgm:cxn modelId="{E24D4AAB-FF36-4B8A-B577-592A152F8205}" type="presParOf" srcId="{BB9E1376-D3C4-45E6-80D0-0C963AD03CB3}" destId="{9F93C608-4DA1-48CF-A54C-01FC80E2F524}" srcOrd="2" destOrd="0" presId="urn:microsoft.com/office/officeart/2005/8/layout/hProcess11"/>
    <dgm:cxn modelId="{5E945677-03BB-4B8D-B73F-CA38C1549E45}" type="presParOf" srcId="{C70ED730-A906-4AC1-AB6E-BCB77AB8C173}" destId="{1D89A139-B38B-4A2A-9AFC-1D32617D71BD}" srcOrd="3" destOrd="0" presId="urn:microsoft.com/office/officeart/2005/8/layout/hProcess11"/>
    <dgm:cxn modelId="{CD1C4D11-C8AC-4EA1-A903-8A9DE2FC92EE}" type="presParOf" srcId="{C70ED730-A906-4AC1-AB6E-BCB77AB8C173}" destId="{377E0766-92EF-4C75-B5B1-253DA15EC8E1}" srcOrd="4" destOrd="0" presId="urn:microsoft.com/office/officeart/2005/8/layout/hProcess11"/>
    <dgm:cxn modelId="{1620490B-7D5F-4D05-ABE2-314946155D62}" type="presParOf" srcId="{377E0766-92EF-4C75-B5B1-253DA15EC8E1}" destId="{ABEFC291-707E-47FE-B153-9C4E3B127EAB}" srcOrd="0" destOrd="0" presId="urn:microsoft.com/office/officeart/2005/8/layout/hProcess11"/>
    <dgm:cxn modelId="{24815820-20D4-4EF8-9F46-FB882378661B}" type="presParOf" srcId="{377E0766-92EF-4C75-B5B1-253DA15EC8E1}" destId="{907F188E-F1F5-4701-9940-ADC5269775B4}" srcOrd="1" destOrd="0" presId="urn:microsoft.com/office/officeart/2005/8/layout/hProcess11"/>
    <dgm:cxn modelId="{434483B6-10BA-4681-8764-04227FA9C633}" type="presParOf" srcId="{377E0766-92EF-4C75-B5B1-253DA15EC8E1}" destId="{B8D2AA6B-9D43-4CF2-806C-76D5A112EEB9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D86410D-1450-4008-AB7D-25E8F3844D3C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F01A5311-9573-472D-8301-8A4EC921072B}">
      <dgm:prSet phldrT="[Texto]" custT="1"/>
      <dgm:spPr/>
      <dgm:t>
        <a:bodyPr/>
        <a:lstStyle/>
        <a:p>
          <a:pPr>
            <a:buNone/>
          </a:pPr>
          <a:r>
            <a:rPr lang="pt-BR" sz="1600" b="1" dirty="0" err="1">
              <a:latin typeface="Gill Sans MT" panose="020B0502020104020203" pitchFamily="34" charset="0"/>
            </a:rPr>
            <a:t>Datos</a:t>
          </a:r>
          <a:r>
            <a:rPr lang="pt-BR" sz="1600" b="1" dirty="0">
              <a:latin typeface="Gill Sans MT" panose="020B0502020104020203" pitchFamily="34" charset="0"/>
            </a:rPr>
            <a:t> (Data </a:t>
          </a:r>
          <a:r>
            <a:rPr lang="pt-BR" sz="1600" b="1" dirty="0" err="1">
              <a:latin typeface="Gill Sans MT" panose="020B0502020104020203" pitchFamily="34" charset="0"/>
            </a:rPr>
            <a:t>Engineering</a:t>
          </a:r>
          <a:r>
            <a:rPr lang="pt-BR" sz="1600" b="1" dirty="0">
              <a:latin typeface="Gill Sans MT" panose="020B0502020104020203" pitchFamily="34" charset="0"/>
            </a:rPr>
            <a:t>)</a:t>
          </a:r>
          <a:endParaRPr lang="es-ES" sz="1600" dirty="0"/>
        </a:p>
      </dgm:t>
    </dgm:pt>
    <dgm:pt modelId="{96DE8A2C-6DC4-4B2F-AED8-BCE73C657CE2}" type="parTrans" cxnId="{80057E7E-C270-4A7C-8889-2341BAA5548C}">
      <dgm:prSet/>
      <dgm:spPr/>
      <dgm:t>
        <a:bodyPr/>
        <a:lstStyle/>
        <a:p>
          <a:endParaRPr lang="es-ES"/>
        </a:p>
      </dgm:t>
    </dgm:pt>
    <dgm:pt modelId="{72F0F7A4-EA2B-46D5-9775-CDBEAD6FF942}" type="sibTrans" cxnId="{80057E7E-C270-4A7C-8889-2341BAA5548C}">
      <dgm:prSet/>
      <dgm:spPr/>
      <dgm:t>
        <a:bodyPr/>
        <a:lstStyle/>
        <a:p>
          <a:endParaRPr lang="es-ES"/>
        </a:p>
      </dgm:t>
    </dgm:pt>
    <dgm:pt modelId="{FD067C0E-7AAA-4496-8E02-79FA9941E725}">
      <dgm:prSet phldrT="[Texto]" custT="1"/>
      <dgm:spPr/>
      <dgm:t>
        <a:bodyPr/>
        <a:lstStyle/>
        <a:p>
          <a:pPr>
            <a:buNone/>
          </a:pPr>
          <a:r>
            <a:rPr lang="es-ES" sz="1600" b="1" dirty="0">
              <a:latin typeface="Gill Sans MT" panose="020B0502020104020203" pitchFamily="34" charset="0"/>
            </a:rPr>
            <a:t>Selección y entrenamiento del modelo</a:t>
          </a:r>
        </a:p>
      </dgm:t>
    </dgm:pt>
    <dgm:pt modelId="{A35DA13B-EBA2-4856-8AF0-12AD7476B6E5}" type="parTrans" cxnId="{3BE1AC15-25B7-40AE-B549-C7965213C201}">
      <dgm:prSet/>
      <dgm:spPr/>
      <dgm:t>
        <a:bodyPr/>
        <a:lstStyle/>
        <a:p>
          <a:endParaRPr lang="es-ES"/>
        </a:p>
      </dgm:t>
    </dgm:pt>
    <dgm:pt modelId="{01BE936C-7B05-48C2-89F1-A619C63FCA47}" type="sibTrans" cxnId="{3BE1AC15-25B7-40AE-B549-C7965213C201}">
      <dgm:prSet/>
      <dgm:spPr/>
      <dgm:t>
        <a:bodyPr/>
        <a:lstStyle/>
        <a:p>
          <a:endParaRPr lang="es-ES"/>
        </a:p>
      </dgm:t>
    </dgm:pt>
    <dgm:pt modelId="{757B311D-C68F-4240-93D1-C26FFEAC3452}">
      <dgm:prSet phldrT="[Texto]" custT="1"/>
      <dgm:spPr/>
      <dgm:t>
        <a:bodyPr/>
        <a:lstStyle/>
        <a:p>
          <a:pPr>
            <a:buNone/>
          </a:pPr>
          <a:r>
            <a:rPr lang="es-ES" sz="1600" b="1" dirty="0">
              <a:latin typeface="Gill Sans MT" panose="020B0502020104020203" pitchFamily="34" charset="0"/>
            </a:rPr>
            <a:t>Evaluación y métricas</a:t>
          </a:r>
          <a:endParaRPr lang="es-ES" sz="1600" dirty="0"/>
        </a:p>
      </dgm:t>
    </dgm:pt>
    <dgm:pt modelId="{2A54809B-EF12-4276-82AB-2C1D6540D3F6}" type="parTrans" cxnId="{0BE4E1C6-0B3B-4057-AE90-A05E3543F76E}">
      <dgm:prSet/>
      <dgm:spPr/>
      <dgm:t>
        <a:bodyPr/>
        <a:lstStyle/>
        <a:p>
          <a:endParaRPr lang="es-ES"/>
        </a:p>
      </dgm:t>
    </dgm:pt>
    <dgm:pt modelId="{BC4D0C92-7227-44AA-85CC-3751C122489C}" type="sibTrans" cxnId="{0BE4E1C6-0B3B-4057-AE90-A05E3543F76E}">
      <dgm:prSet/>
      <dgm:spPr/>
      <dgm:t>
        <a:bodyPr/>
        <a:lstStyle/>
        <a:p>
          <a:endParaRPr lang="es-ES"/>
        </a:p>
      </dgm:t>
    </dgm:pt>
    <dgm:pt modelId="{21A1F105-C44A-47D6-9318-9F4927A279FB}" type="pres">
      <dgm:prSet presAssocID="{5D86410D-1450-4008-AB7D-25E8F3844D3C}" presName="Name0" presStyleCnt="0">
        <dgm:presLayoutVars>
          <dgm:dir/>
          <dgm:resizeHandles val="exact"/>
        </dgm:presLayoutVars>
      </dgm:prSet>
      <dgm:spPr/>
    </dgm:pt>
    <dgm:pt modelId="{3CE9A554-C0B5-44DC-B963-0B63922D3692}" type="pres">
      <dgm:prSet presAssocID="{5D86410D-1450-4008-AB7D-25E8F3844D3C}" presName="arrow" presStyleLbl="bgShp" presStyleIdx="0" presStyleCnt="1"/>
      <dgm:spPr/>
    </dgm:pt>
    <dgm:pt modelId="{C70ED730-A906-4AC1-AB6E-BCB77AB8C173}" type="pres">
      <dgm:prSet presAssocID="{5D86410D-1450-4008-AB7D-25E8F3844D3C}" presName="points" presStyleCnt="0"/>
      <dgm:spPr/>
    </dgm:pt>
    <dgm:pt modelId="{8531B3B3-16E2-4A27-87EB-B9A6DFA68549}" type="pres">
      <dgm:prSet presAssocID="{F01A5311-9573-472D-8301-8A4EC921072B}" presName="compositeA" presStyleCnt="0"/>
      <dgm:spPr/>
    </dgm:pt>
    <dgm:pt modelId="{1FDD6AD8-A92B-49F4-8397-59265B481232}" type="pres">
      <dgm:prSet presAssocID="{F01A5311-9573-472D-8301-8A4EC921072B}" presName="textA" presStyleLbl="revTx" presStyleIdx="0" presStyleCnt="3" custScaleX="188563">
        <dgm:presLayoutVars>
          <dgm:bulletEnabled val="1"/>
        </dgm:presLayoutVars>
      </dgm:prSet>
      <dgm:spPr/>
    </dgm:pt>
    <dgm:pt modelId="{7ED905E7-3733-473F-921C-76E5C967F307}" type="pres">
      <dgm:prSet presAssocID="{F01A5311-9573-472D-8301-8A4EC921072B}" presName="circleA" presStyleLbl="node1" presStyleIdx="0" presStyleCnt="3"/>
      <dgm:spPr/>
    </dgm:pt>
    <dgm:pt modelId="{835C178A-6579-46C8-9A45-A6AD8B3E8548}" type="pres">
      <dgm:prSet presAssocID="{F01A5311-9573-472D-8301-8A4EC921072B}" presName="spaceA" presStyleCnt="0"/>
      <dgm:spPr/>
    </dgm:pt>
    <dgm:pt modelId="{50FF06B8-366D-49B5-BDC1-F1932D5B2806}" type="pres">
      <dgm:prSet presAssocID="{72F0F7A4-EA2B-46D5-9775-CDBEAD6FF942}" presName="space" presStyleCnt="0"/>
      <dgm:spPr/>
    </dgm:pt>
    <dgm:pt modelId="{BB9E1376-D3C4-45E6-80D0-0C963AD03CB3}" type="pres">
      <dgm:prSet presAssocID="{FD067C0E-7AAA-4496-8E02-79FA9941E725}" presName="compositeB" presStyleCnt="0"/>
      <dgm:spPr/>
    </dgm:pt>
    <dgm:pt modelId="{E25D6718-64E9-453E-9F40-0B2FAF8EB9E4}" type="pres">
      <dgm:prSet presAssocID="{FD067C0E-7AAA-4496-8E02-79FA9941E725}" presName="textB" presStyleLbl="revTx" presStyleIdx="1" presStyleCnt="3" custScaleX="173474" custLinFactNeighborX="-11973">
        <dgm:presLayoutVars>
          <dgm:bulletEnabled val="1"/>
        </dgm:presLayoutVars>
      </dgm:prSet>
      <dgm:spPr/>
    </dgm:pt>
    <dgm:pt modelId="{F85D4DA9-C479-4380-94F0-FCDBCD9FF903}" type="pres">
      <dgm:prSet presAssocID="{FD067C0E-7AAA-4496-8E02-79FA9941E725}" presName="circleB" presStyleLbl="node1" presStyleIdx="1" presStyleCnt="3"/>
      <dgm:spPr/>
    </dgm:pt>
    <dgm:pt modelId="{9F93C608-4DA1-48CF-A54C-01FC80E2F524}" type="pres">
      <dgm:prSet presAssocID="{FD067C0E-7AAA-4496-8E02-79FA9941E725}" presName="spaceB" presStyleCnt="0"/>
      <dgm:spPr/>
    </dgm:pt>
    <dgm:pt modelId="{1D89A139-B38B-4A2A-9AFC-1D32617D71BD}" type="pres">
      <dgm:prSet presAssocID="{01BE936C-7B05-48C2-89F1-A619C63FCA47}" presName="space" presStyleCnt="0"/>
      <dgm:spPr/>
    </dgm:pt>
    <dgm:pt modelId="{377E0766-92EF-4C75-B5B1-253DA15EC8E1}" type="pres">
      <dgm:prSet presAssocID="{757B311D-C68F-4240-93D1-C26FFEAC3452}" presName="compositeA" presStyleCnt="0"/>
      <dgm:spPr/>
    </dgm:pt>
    <dgm:pt modelId="{ABEFC291-707E-47FE-B153-9C4E3B127EAB}" type="pres">
      <dgm:prSet presAssocID="{757B311D-C68F-4240-93D1-C26FFEAC3452}" presName="textA" presStyleLbl="revTx" presStyleIdx="2" presStyleCnt="3" custScaleX="125308">
        <dgm:presLayoutVars>
          <dgm:bulletEnabled val="1"/>
        </dgm:presLayoutVars>
      </dgm:prSet>
      <dgm:spPr/>
    </dgm:pt>
    <dgm:pt modelId="{907F188E-F1F5-4701-9940-ADC5269775B4}" type="pres">
      <dgm:prSet presAssocID="{757B311D-C68F-4240-93D1-C26FFEAC3452}" presName="circleA" presStyleLbl="node1" presStyleIdx="2" presStyleCnt="3"/>
      <dgm:spPr/>
    </dgm:pt>
    <dgm:pt modelId="{B8D2AA6B-9D43-4CF2-806C-76D5A112EEB9}" type="pres">
      <dgm:prSet presAssocID="{757B311D-C68F-4240-93D1-C26FFEAC3452}" presName="spaceA" presStyleCnt="0"/>
      <dgm:spPr/>
    </dgm:pt>
  </dgm:ptLst>
  <dgm:cxnLst>
    <dgm:cxn modelId="{3BE1AC15-25B7-40AE-B549-C7965213C201}" srcId="{5D86410D-1450-4008-AB7D-25E8F3844D3C}" destId="{FD067C0E-7AAA-4496-8E02-79FA9941E725}" srcOrd="1" destOrd="0" parTransId="{A35DA13B-EBA2-4856-8AF0-12AD7476B6E5}" sibTransId="{01BE936C-7B05-48C2-89F1-A619C63FCA47}"/>
    <dgm:cxn modelId="{5CBF9F48-36D2-4BB3-9188-C1576EE93042}" type="presOf" srcId="{757B311D-C68F-4240-93D1-C26FFEAC3452}" destId="{ABEFC291-707E-47FE-B153-9C4E3B127EAB}" srcOrd="0" destOrd="0" presId="urn:microsoft.com/office/officeart/2005/8/layout/hProcess11"/>
    <dgm:cxn modelId="{80057E7E-C270-4A7C-8889-2341BAA5548C}" srcId="{5D86410D-1450-4008-AB7D-25E8F3844D3C}" destId="{F01A5311-9573-472D-8301-8A4EC921072B}" srcOrd="0" destOrd="0" parTransId="{96DE8A2C-6DC4-4B2F-AED8-BCE73C657CE2}" sibTransId="{72F0F7A4-EA2B-46D5-9775-CDBEAD6FF942}"/>
    <dgm:cxn modelId="{70B756BD-EF06-496A-8FC3-492B19ECEDEB}" type="presOf" srcId="{FD067C0E-7AAA-4496-8E02-79FA9941E725}" destId="{E25D6718-64E9-453E-9F40-0B2FAF8EB9E4}" srcOrd="0" destOrd="0" presId="urn:microsoft.com/office/officeart/2005/8/layout/hProcess11"/>
    <dgm:cxn modelId="{0BE4E1C6-0B3B-4057-AE90-A05E3543F76E}" srcId="{5D86410D-1450-4008-AB7D-25E8F3844D3C}" destId="{757B311D-C68F-4240-93D1-C26FFEAC3452}" srcOrd="2" destOrd="0" parTransId="{2A54809B-EF12-4276-82AB-2C1D6540D3F6}" sibTransId="{BC4D0C92-7227-44AA-85CC-3751C122489C}"/>
    <dgm:cxn modelId="{3CDF74C8-8181-4437-BAB2-B396E751E5EE}" type="presOf" srcId="{F01A5311-9573-472D-8301-8A4EC921072B}" destId="{1FDD6AD8-A92B-49F4-8397-59265B481232}" srcOrd="0" destOrd="0" presId="urn:microsoft.com/office/officeart/2005/8/layout/hProcess11"/>
    <dgm:cxn modelId="{6607EDFF-AE9D-4A88-A583-4F9E7A357E9F}" type="presOf" srcId="{5D86410D-1450-4008-AB7D-25E8F3844D3C}" destId="{21A1F105-C44A-47D6-9318-9F4927A279FB}" srcOrd="0" destOrd="0" presId="urn:microsoft.com/office/officeart/2005/8/layout/hProcess11"/>
    <dgm:cxn modelId="{858B252F-8D9C-40EA-AE99-36B76F79A4BD}" type="presParOf" srcId="{21A1F105-C44A-47D6-9318-9F4927A279FB}" destId="{3CE9A554-C0B5-44DC-B963-0B63922D3692}" srcOrd="0" destOrd="0" presId="urn:microsoft.com/office/officeart/2005/8/layout/hProcess11"/>
    <dgm:cxn modelId="{B19E98BE-433E-4D5F-8174-9402ED4F9D77}" type="presParOf" srcId="{21A1F105-C44A-47D6-9318-9F4927A279FB}" destId="{C70ED730-A906-4AC1-AB6E-BCB77AB8C173}" srcOrd="1" destOrd="0" presId="urn:microsoft.com/office/officeart/2005/8/layout/hProcess11"/>
    <dgm:cxn modelId="{F67ADE6A-5836-403F-8241-1BC34A65EC64}" type="presParOf" srcId="{C70ED730-A906-4AC1-AB6E-BCB77AB8C173}" destId="{8531B3B3-16E2-4A27-87EB-B9A6DFA68549}" srcOrd="0" destOrd="0" presId="urn:microsoft.com/office/officeart/2005/8/layout/hProcess11"/>
    <dgm:cxn modelId="{0BEAFD48-BD45-4644-8766-DCF3AB59CAFA}" type="presParOf" srcId="{8531B3B3-16E2-4A27-87EB-B9A6DFA68549}" destId="{1FDD6AD8-A92B-49F4-8397-59265B481232}" srcOrd="0" destOrd="0" presId="urn:microsoft.com/office/officeart/2005/8/layout/hProcess11"/>
    <dgm:cxn modelId="{A30A98CD-E50F-4D9F-90DC-890C1A150E3B}" type="presParOf" srcId="{8531B3B3-16E2-4A27-87EB-B9A6DFA68549}" destId="{7ED905E7-3733-473F-921C-76E5C967F307}" srcOrd="1" destOrd="0" presId="urn:microsoft.com/office/officeart/2005/8/layout/hProcess11"/>
    <dgm:cxn modelId="{25E79CEA-95BF-4EBD-BA79-466832A59D5C}" type="presParOf" srcId="{8531B3B3-16E2-4A27-87EB-B9A6DFA68549}" destId="{835C178A-6579-46C8-9A45-A6AD8B3E8548}" srcOrd="2" destOrd="0" presId="urn:microsoft.com/office/officeart/2005/8/layout/hProcess11"/>
    <dgm:cxn modelId="{34CE4985-39DB-4CAC-B3FB-6F86FA4AF2F3}" type="presParOf" srcId="{C70ED730-A906-4AC1-AB6E-BCB77AB8C173}" destId="{50FF06B8-366D-49B5-BDC1-F1932D5B2806}" srcOrd="1" destOrd="0" presId="urn:microsoft.com/office/officeart/2005/8/layout/hProcess11"/>
    <dgm:cxn modelId="{798C6C9F-6972-452C-A112-CA1D74D87732}" type="presParOf" srcId="{C70ED730-A906-4AC1-AB6E-BCB77AB8C173}" destId="{BB9E1376-D3C4-45E6-80D0-0C963AD03CB3}" srcOrd="2" destOrd="0" presId="urn:microsoft.com/office/officeart/2005/8/layout/hProcess11"/>
    <dgm:cxn modelId="{F7AD0D32-ED81-4D5A-9C46-8B46C26A33FC}" type="presParOf" srcId="{BB9E1376-D3C4-45E6-80D0-0C963AD03CB3}" destId="{E25D6718-64E9-453E-9F40-0B2FAF8EB9E4}" srcOrd="0" destOrd="0" presId="urn:microsoft.com/office/officeart/2005/8/layout/hProcess11"/>
    <dgm:cxn modelId="{8C24F21C-A45F-4B35-B3A8-C496D3E30580}" type="presParOf" srcId="{BB9E1376-D3C4-45E6-80D0-0C963AD03CB3}" destId="{F85D4DA9-C479-4380-94F0-FCDBCD9FF903}" srcOrd="1" destOrd="0" presId="urn:microsoft.com/office/officeart/2005/8/layout/hProcess11"/>
    <dgm:cxn modelId="{E24D4AAB-FF36-4B8A-B577-592A152F8205}" type="presParOf" srcId="{BB9E1376-D3C4-45E6-80D0-0C963AD03CB3}" destId="{9F93C608-4DA1-48CF-A54C-01FC80E2F524}" srcOrd="2" destOrd="0" presId="urn:microsoft.com/office/officeart/2005/8/layout/hProcess11"/>
    <dgm:cxn modelId="{5E945677-03BB-4B8D-B73F-CA38C1549E45}" type="presParOf" srcId="{C70ED730-A906-4AC1-AB6E-BCB77AB8C173}" destId="{1D89A139-B38B-4A2A-9AFC-1D32617D71BD}" srcOrd="3" destOrd="0" presId="urn:microsoft.com/office/officeart/2005/8/layout/hProcess11"/>
    <dgm:cxn modelId="{CD1C4D11-C8AC-4EA1-A903-8A9DE2FC92EE}" type="presParOf" srcId="{C70ED730-A906-4AC1-AB6E-BCB77AB8C173}" destId="{377E0766-92EF-4C75-B5B1-253DA15EC8E1}" srcOrd="4" destOrd="0" presId="urn:microsoft.com/office/officeart/2005/8/layout/hProcess11"/>
    <dgm:cxn modelId="{1620490B-7D5F-4D05-ABE2-314946155D62}" type="presParOf" srcId="{377E0766-92EF-4C75-B5B1-253DA15EC8E1}" destId="{ABEFC291-707E-47FE-B153-9C4E3B127EAB}" srcOrd="0" destOrd="0" presId="urn:microsoft.com/office/officeart/2005/8/layout/hProcess11"/>
    <dgm:cxn modelId="{24815820-20D4-4EF8-9F46-FB882378661B}" type="presParOf" srcId="{377E0766-92EF-4C75-B5B1-253DA15EC8E1}" destId="{907F188E-F1F5-4701-9940-ADC5269775B4}" srcOrd="1" destOrd="0" presId="urn:microsoft.com/office/officeart/2005/8/layout/hProcess11"/>
    <dgm:cxn modelId="{434483B6-10BA-4681-8764-04227FA9C633}" type="presParOf" srcId="{377E0766-92EF-4C75-B5B1-253DA15EC8E1}" destId="{B8D2AA6B-9D43-4CF2-806C-76D5A112EEB9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E9A554-C0B5-44DC-B963-0B63922D3692}">
      <dsp:nvSpPr>
        <dsp:cNvPr id="0" name=""/>
        <dsp:cNvSpPr/>
      </dsp:nvSpPr>
      <dsp:spPr>
        <a:xfrm>
          <a:off x="0" y="1303522"/>
          <a:ext cx="10758814" cy="1738029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DD6AD8-A92B-49F4-8397-59265B481232}">
      <dsp:nvSpPr>
        <dsp:cNvPr id="0" name=""/>
        <dsp:cNvSpPr/>
      </dsp:nvSpPr>
      <dsp:spPr>
        <a:xfrm>
          <a:off x="1029" y="0"/>
          <a:ext cx="3125003" cy="1738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b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 err="1">
              <a:latin typeface="Gill Sans MT" panose="020B0502020104020203" pitchFamily="34" charset="0"/>
            </a:rPr>
            <a:t>Datos</a:t>
          </a:r>
          <a:r>
            <a:rPr lang="pt-BR" sz="1600" b="1" kern="1200" dirty="0">
              <a:latin typeface="Gill Sans MT" panose="020B0502020104020203" pitchFamily="34" charset="0"/>
            </a:rPr>
            <a:t> (Data </a:t>
          </a:r>
          <a:r>
            <a:rPr lang="pt-BR" sz="1600" b="1" kern="1200" dirty="0" err="1">
              <a:latin typeface="Gill Sans MT" panose="020B0502020104020203" pitchFamily="34" charset="0"/>
            </a:rPr>
            <a:t>Engineering</a:t>
          </a:r>
          <a:r>
            <a:rPr lang="pt-BR" sz="1600" b="1" kern="1200" dirty="0">
              <a:latin typeface="Gill Sans MT" panose="020B0502020104020203" pitchFamily="34" charset="0"/>
            </a:rPr>
            <a:t>)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600" kern="1200" dirty="0"/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600" kern="1200" dirty="0"/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600" kern="1200" dirty="0"/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600" kern="1200" dirty="0"/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600" kern="1200" dirty="0"/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600" kern="1200" dirty="0"/>
        </a:p>
      </dsp:txBody>
      <dsp:txXfrm>
        <a:off x="1029" y="0"/>
        <a:ext cx="3125003" cy="1738029"/>
      </dsp:txXfrm>
    </dsp:sp>
    <dsp:sp modelId="{7ED905E7-3733-473F-921C-76E5C967F307}">
      <dsp:nvSpPr>
        <dsp:cNvPr id="0" name=""/>
        <dsp:cNvSpPr/>
      </dsp:nvSpPr>
      <dsp:spPr>
        <a:xfrm>
          <a:off x="1346277" y="1955283"/>
          <a:ext cx="434507" cy="43450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5D6718-64E9-453E-9F40-0B2FAF8EB9E4}">
      <dsp:nvSpPr>
        <dsp:cNvPr id="0" name=""/>
        <dsp:cNvSpPr/>
      </dsp:nvSpPr>
      <dsp:spPr>
        <a:xfrm>
          <a:off x="2959213" y="2607044"/>
          <a:ext cx="3924268" cy="1738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 dirty="0">
              <a:latin typeface="Gill Sans MT" panose="020B0502020104020203" pitchFamily="34" charset="0"/>
            </a:rPr>
            <a:t>Selección y entrenamiento del modelo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600" b="1" kern="1200" dirty="0"/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600" kern="1200" dirty="0"/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600" kern="1200" dirty="0"/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600" kern="1200" dirty="0"/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600" kern="1200" dirty="0"/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600" kern="1200" dirty="0"/>
        </a:p>
      </dsp:txBody>
      <dsp:txXfrm>
        <a:off x="2959213" y="2607044"/>
        <a:ext cx="3924268" cy="1738029"/>
      </dsp:txXfrm>
    </dsp:sp>
    <dsp:sp modelId="{F85D4DA9-C479-4380-94F0-FCDBCD9FF903}">
      <dsp:nvSpPr>
        <dsp:cNvPr id="0" name=""/>
        <dsp:cNvSpPr/>
      </dsp:nvSpPr>
      <dsp:spPr>
        <a:xfrm>
          <a:off x="4990531" y="1955283"/>
          <a:ext cx="434507" cy="43450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EFC291-707E-47FE-B153-9C4E3B127EAB}">
      <dsp:nvSpPr>
        <dsp:cNvPr id="0" name=""/>
        <dsp:cNvSpPr/>
      </dsp:nvSpPr>
      <dsp:spPr>
        <a:xfrm>
          <a:off x="7289537" y="0"/>
          <a:ext cx="2392365" cy="1738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b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 dirty="0">
              <a:latin typeface="Gill Sans MT" panose="020B0502020104020203" pitchFamily="34" charset="0"/>
            </a:rPr>
            <a:t>Evaluación y métricas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600" kern="1200" dirty="0"/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600" kern="1200" dirty="0"/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600" kern="1200" dirty="0"/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600" kern="1200" dirty="0"/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600" kern="1200" dirty="0"/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600" kern="1200" dirty="0"/>
        </a:p>
      </dsp:txBody>
      <dsp:txXfrm>
        <a:off x="7289537" y="0"/>
        <a:ext cx="2392365" cy="1738029"/>
      </dsp:txXfrm>
    </dsp:sp>
    <dsp:sp modelId="{907F188E-F1F5-4701-9940-ADC5269775B4}">
      <dsp:nvSpPr>
        <dsp:cNvPr id="0" name=""/>
        <dsp:cNvSpPr/>
      </dsp:nvSpPr>
      <dsp:spPr>
        <a:xfrm>
          <a:off x="8268466" y="1955283"/>
          <a:ext cx="434507" cy="43450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E9A554-C0B5-44DC-B963-0B63922D3692}">
      <dsp:nvSpPr>
        <dsp:cNvPr id="0" name=""/>
        <dsp:cNvSpPr/>
      </dsp:nvSpPr>
      <dsp:spPr>
        <a:xfrm>
          <a:off x="0" y="1303522"/>
          <a:ext cx="10758814" cy="1738029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DD6AD8-A92B-49F4-8397-59265B481232}">
      <dsp:nvSpPr>
        <dsp:cNvPr id="0" name=""/>
        <dsp:cNvSpPr/>
      </dsp:nvSpPr>
      <dsp:spPr>
        <a:xfrm>
          <a:off x="3369" y="0"/>
          <a:ext cx="3668624" cy="1738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b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 err="1">
              <a:latin typeface="Gill Sans MT" panose="020B0502020104020203" pitchFamily="34" charset="0"/>
            </a:rPr>
            <a:t>Datos</a:t>
          </a:r>
          <a:r>
            <a:rPr lang="pt-BR" sz="1600" b="1" kern="1200" dirty="0">
              <a:latin typeface="Gill Sans MT" panose="020B0502020104020203" pitchFamily="34" charset="0"/>
            </a:rPr>
            <a:t> (Data </a:t>
          </a:r>
          <a:r>
            <a:rPr lang="pt-BR" sz="1600" b="1" kern="1200" dirty="0" err="1">
              <a:latin typeface="Gill Sans MT" panose="020B0502020104020203" pitchFamily="34" charset="0"/>
            </a:rPr>
            <a:t>Engineering</a:t>
          </a:r>
          <a:r>
            <a:rPr lang="pt-BR" sz="1600" b="1" kern="1200" dirty="0">
              <a:latin typeface="Gill Sans MT" panose="020B0502020104020203" pitchFamily="34" charset="0"/>
            </a:rPr>
            <a:t>)</a:t>
          </a:r>
          <a:endParaRPr lang="es-ES" sz="1600" kern="1200" dirty="0"/>
        </a:p>
      </dsp:txBody>
      <dsp:txXfrm>
        <a:off x="3369" y="0"/>
        <a:ext cx="3668624" cy="1738029"/>
      </dsp:txXfrm>
    </dsp:sp>
    <dsp:sp modelId="{7ED905E7-3733-473F-921C-76E5C967F307}">
      <dsp:nvSpPr>
        <dsp:cNvPr id="0" name=""/>
        <dsp:cNvSpPr/>
      </dsp:nvSpPr>
      <dsp:spPr>
        <a:xfrm>
          <a:off x="1620428" y="1955283"/>
          <a:ext cx="434507" cy="43450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5D6718-64E9-453E-9F40-0B2FAF8EB9E4}">
      <dsp:nvSpPr>
        <dsp:cNvPr id="0" name=""/>
        <dsp:cNvSpPr/>
      </dsp:nvSpPr>
      <dsp:spPr>
        <a:xfrm>
          <a:off x="3536329" y="2607044"/>
          <a:ext cx="3375057" cy="1738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 dirty="0">
              <a:latin typeface="Gill Sans MT" panose="020B0502020104020203" pitchFamily="34" charset="0"/>
            </a:rPr>
            <a:t>Selección y entrenamiento del modelo</a:t>
          </a:r>
        </a:p>
      </dsp:txBody>
      <dsp:txXfrm>
        <a:off x="3536329" y="2607044"/>
        <a:ext cx="3375057" cy="1738029"/>
      </dsp:txXfrm>
    </dsp:sp>
    <dsp:sp modelId="{F85D4DA9-C479-4380-94F0-FCDBCD9FF903}">
      <dsp:nvSpPr>
        <dsp:cNvPr id="0" name=""/>
        <dsp:cNvSpPr/>
      </dsp:nvSpPr>
      <dsp:spPr>
        <a:xfrm>
          <a:off x="5239547" y="1955283"/>
          <a:ext cx="434507" cy="43450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EFC291-707E-47FE-B153-9C4E3B127EAB}">
      <dsp:nvSpPr>
        <dsp:cNvPr id="0" name=""/>
        <dsp:cNvSpPr/>
      </dsp:nvSpPr>
      <dsp:spPr>
        <a:xfrm>
          <a:off x="7241608" y="0"/>
          <a:ext cx="2437954" cy="1738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b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 dirty="0">
              <a:latin typeface="Gill Sans MT" panose="020B0502020104020203" pitchFamily="34" charset="0"/>
            </a:rPr>
            <a:t>Evaluación y métricas</a:t>
          </a:r>
          <a:endParaRPr lang="es-ES" sz="1600" kern="1200" dirty="0"/>
        </a:p>
      </dsp:txBody>
      <dsp:txXfrm>
        <a:off x="7241608" y="0"/>
        <a:ext cx="2437954" cy="1738029"/>
      </dsp:txXfrm>
    </dsp:sp>
    <dsp:sp modelId="{907F188E-F1F5-4701-9940-ADC5269775B4}">
      <dsp:nvSpPr>
        <dsp:cNvPr id="0" name=""/>
        <dsp:cNvSpPr/>
      </dsp:nvSpPr>
      <dsp:spPr>
        <a:xfrm>
          <a:off x="8243332" y="1955283"/>
          <a:ext cx="434507" cy="43450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E9A554-C0B5-44DC-B963-0B63922D3692}">
      <dsp:nvSpPr>
        <dsp:cNvPr id="0" name=""/>
        <dsp:cNvSpPr/>
      </dsp:nvSpPr>
      <dsp:spPr>
        <a:xfrm>
          <a:off x="0" y="1303522"/>
          <a:ext cx="10758814" cy="1738029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DD6AD8-A92B-49F4-8397-59265B481232}">
      <dsp:nvSpPr>
        <dsp:cNvPr id="0" name=""/>
        <dsp:cNvSpPr/>
      </dsp:nvSpPr>
      <dsp:spPr>
        <a:xfrm>
          <a:off x="3369" y="0"/>
          <a:ext cx="3668624" cy="1738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b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 err="1">
              <a:latin typeface="Gill Sans MT" panose="020B0502020104020203" pitchFamily="34" charset="0"/>
            </a:rPr>
            <a:t>Datos</a:t>
          </a:r>
          <a:r>
            <a:rPr lang="pt-BR" sz="1600" b="1" kern="1200" dirty="0">
              <a:latin typeface="Gill Sans MT" panose="020B0502020104020203" pitchFamily="34" charset="0"/>
            </a:rPr>
            <a:t> (Data </a:t>
          </a:r>
          <a:r>
            <a:rPr lang="pt-BR" sz="1600" b="1" kern="1200" dirty="0" err="1">
              <a:latin typeface="Gill Sans MT" panose="020B0502020104020203" pitchFamily="34" charset="0"/>
            </a:rPr>
            <a:t>Engineering</a:t>
          </a:r>
          <a:r>
            <a:rPr lang="pt-BR" sz="1600" b="1" kern="1200" dirty="0">
              <a:latin typeface="Gill Sans MT" panose="020B0502020104020203" pitchFamily="34" charset="0"/>
            </a:rPr>
            <a:t>)</a:t>
          </a:r>
          <a:endParaRPr lang="es-ES" sz="1600" kern="1200" dirty="0"/>
        </a:p>
      </dsp:txBody>
      <dsp:txXfrm>
        <a:off x="3369" y="0"/>
        <a:ext cx="3668624" cy="1738029"/>
      </dsp:txXfrm>
    </dsp:sp>
    <dsp:sp modelId="{7ED905E7-3733-473F-921C-76E5C967F307}">
      <dsp:nvSpPr>
        <dsp:cNvPr id="0" name=""/>
        <dsp:cNvSpPr/>
      </dsp:nvSpPr>
      <dsp:spPr>
        <a:xfrm>
          <a:off x="1620428" y="1955283"/>
          <a:ext cx="434507" cy="43450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5D6718-64E9-453E-9F40-0B2FAF8EB9E4}">
      <dsp:nvSpPr>
        <dsp:cNvPr id="0" name=""/>
        <dsp:cNvSpPr/>
      </dsp:nvSpPr>
      <dsp:spPr>
        <a:xfrm>
          <a:off x="3536329" y="2607044"/>
          <a:ext cx="3375057" cy="1738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 dirty="0">
              <a:latin typeface="Gill Sans MT" panose="020B0502020104020203" pitchFamily="34" charset="0"/>
            </a:rPr>
            <a:t>Selección y entrenamiento del modelo</a:t>
          </a:r>
        </a:p>
      </dsp:txBody>
      <dsp:txXfrm>
        <a:off x="3536329" y="2607044"/>
        <a:ext cx="3375057" cy="1738029"/>
      </dsp:txXfrm>
    </dsp:sp>
    <dsp:sp modelId="{F85D4DA9-C479-4380-94F0-FCDBCD9FF903}">
      <dsp:nvSpPr>
        <dsp:cNvPr id="0" name=""/>
        <dsp:cNvSpPr/>
      </dsp:nvSpPr>
      <dsp:spPr>
        <a:xfrm>
          <a:off x="5239547" y="1955283"/>
          <a:ext cx="434507" cy="43450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EFC291-707E-47FE-B153-9C4E3B127EAB}">
      <dsp:nvSpPr>
        <dsp:cNvPr id="0" name=""/>
        <dsp:cNvSpPr/>
      </dsp:nvSpPr>
      <dsp:spPr>
        <a:xfrm>
          <a:off x="7241608" y="0"/>
          <a:ext cx="2437954" cy="1738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b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 dirty="0">
              <a:latin typeface="Gill Sans MT" panose="020B0502020104020203" pitchFamily="34" charset="0"/>
            </a:rPr>
            <a:t>Evaluación y métricas</a:t>
          </a:r>
          <a:endParaRPr lang="es-ES" sz="1600" kern="1200" dirty="0"/>
        </a:p>
      </dsp:txBody>
      <dsp:txXfrm>
        <a:off x="7241608" y="0"/>
        <a:ext cx="2437954" cy="1738029"/>
      </dsp:txXfrm>
    </dsp:sp>
    <dsp:sp modelId="{907F188E-F1F5-4701-9940-ADC5269775B4}">
      <dsp:nvSpPr>
        <dsp:cNvPr id="0" name=""/>
        <dsp:cNvSpPr/>
      </dsp:nvSpPr>
      <dsp:spPr>
        <a:xfrm>
          <a:off x="8243332" y="1955283"/>
          <a:ext cx="434507" cy="43450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2834AB-897A-4C3A-8C0C-765558EC54DB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B82939-699F-4CDF-97CA-30C5255E19A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10196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B82939-699F-4CDF-97CA-30C5255E19A5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463104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>
                <a:latin typeface="Gill Sans MT" panose="020B0502020104020203" pitchFamily="34" charset="0"/>
              </a:rPr>
              <a:t>. No hay necesidad de recolección masiva, etiquetado manual o pre-procesamiento complejo del </a:t>
            </a:r>
            <a:r>
              <a:rPr lang="es-ES" dirty="0" err="1">
                <a:latin typeface="Gill Sans MT" panose="020B0502020104020203" pitchFamily="34" charset="0"/>
              </a:rPr>
              <a:t>dataset.Automatización</a:t>
            </a:r>
            <a:r>
              <a:rPr lang="es-ES" dirty="0">
                <a:latin typeface="Gill Sans MT" panose="020B0502020104020203" pitchFamily="34" charset="0"/>
              </a:rPr>
              <a:t> y </a:t>
            </a:r>
            <a:r>
              <a:rPr lang="es-ES" dirty="0" err="1">
                <a:latin typeface="Gill Sans MT" panose="020B0502020104020203" pitchFamily="34" charset="0"/>
              </a:rPr>
              <a:t>Replicabilidad</a:t>
            </a:r>
            <a:r>
              <a:rPr lang="es-ES" dirty="0">
                <a:latin typeface="Gill Sans MT" panose="020B0502020104020203" pitchFamily="34" charset="0"/>
              </a:rPr>
              <a:t>: La "preparación de datos" se limita a la captura de la imagen por parte del usuario. No hay un proceso de Data </a:t>
            </a:r>
            <a:r>
              <a:rPr lang="es-ES" dirty="0" err="1">
                <a:latin typeface="Gill Sans MT" panose="020B0502020104020203" pitchFamily="34" charset="0"/>
              </a:rPr>
              <a:t>Sourcing</a:t>
            </a:r>
            <a:r>
              <a:rPr lang="es-ES" dirty="0">
                <a:latin typeface="Gill Sans MT" panose="020B0502020104020203" pitchFamily="34" charset="0"/>
              </a:rPr>
              <a:t> o </a:t>
            </a:r>
            <a:r>
              <a:rPr lang="es-ES" dirty="0" err="1">
                <a:latin typeface="Gill Sans MT" panose="020B0502020104020203" pitchFamily="34" charset="0"/>
              </a:rPr>
              <a:t>Dataset</a:t>
            </a:r>
            <a:r>
              <a:rPr lang="es-ES" dirty="0">
                <a:latin typeface="Gill Sans MT" panose="020B0502020104020203" pitchFamily="34" charset="0"/>
              </a:rPr>
              <a:t> </a:t>
            </a:r>
            <a:r>
              <a:rPr lang="es-ES" dirty="0" err="1">
                <a:latin typeface="Gill Sans MT" panose="020B0502020104020203" pitchFamily="34" charset="0"/>
              </a:rPr>
              <a:t>Annotation</a:t>
            </a:r>
            <a:r>
              <a:rPr lang="es-ES" dirty="0">
                <a:latin typeface="Gill Sans MT" panose="020B0502020104020203" pitchFamily="34" charset="0"/>
              </a:rPr>
              <a:t> a gran escala como en ML tradicional. La calidad del dato depende de la calidad de la imagen enviada al modelo. Cálculos de Tiempo: El tiempo de "preparación de datos" es cercano a cero para el desarrollo, solo el tiempo de captura de la imagen por el usuario.</a:t>
            </a:r>
            <a:br>
              <a:rPr lang="es-ES" dirty="0">
                <a:latin typeface="Gill Sans MT" panose="020B0502020104020203" pitchFamily="34" charset="0"/>
              </a:rPr>
            </a:br>
            <a:br>
              <a:rPr lang="es-ES" dirty="0">
                <a:latin typeface="Gill Sans MT" panose="020B0502020104020203" pitchFamily="34" charset="0"/>
              </a:rPr>
            </a:br>
            <a:endParaRPr lang="es-ES" dirty="0">
              <a:latin typeface="Gill Sans MT" panose="020B0502020104020203" pitchFamily="34" charset="0"/>
            </a:endParaRP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B82939-699F-4CDF-97CA-30C5255E19A5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1685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B82939-699F-4CDF-97CA-30C5255E19A5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422470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B82939-699F-4CDF-97CA-30C5255E19A5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342738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Ejecutado en entorno </a:t>
            </a:r>
            <a:r>
              <a:rPr lang="es-ES" dirty="0" err="1"/>
              <a:t>colab</a:t>
            </a:r>
            <a:r>
              <a:rPr lang="es-ES" dirty="0"/>
              <a:t>, se ha desconectado tras 2 vueltas.</a:t>
            </a:r>
            <a:br>
              <a:rPr lang="es-ES" dirty="0"/>
            </a:br>
            <a:br>
              <a:rPr lang="es-ES" dirty="0"/>
            </a:br>
            <a:r>
              <a:rPr lang="es-ES" dirty="0"/>
              <a:t>Se ha vuelto a ejecutar con 5 vueltas de entrenamiento y con GPU T4 en lugar de con CPU devolviendo el resultado </a:t>
            </a:r>
            <a:br>
              <a:rPr lang="es-ES" dirty="0"/>
            </a:br>
            <a:r>
              <a:rPr lang="es-ES" b="1" dirty="0"/>
              <a:t>1. Las métricas de éxito (El examen final)</a:t>
            </a:r>
          </a:p>
          <a:p>
            <a:r>
              <a:rPr lang="es-ES" b="1" dirty="0"/>
              <a:t>Top-1 </a:t>
            </a:r>
            <a:r>
              <a:rPr lang="es-ES" b="1" dirty="0" err="1"/>
              <a:t>Accuracy</a:t>
            </a:r>
            <a:r>
              <a:rPr lang="es-ES" b="1" dirty="0"/>
              <a:t> (0.688 → 68.8%):</a:t>
            </a:r>
            <a:r>
              <a:rPr lang="es-ES" dirty="0"/>
              <a:t> Significa que, de cada 10 fotos que le enseñes, el modelo acertará el alimento exacto a la primera en casi </a:t>
            </a:r>
            <a:r>
              <a:rPr lang="es-ES" b="1" dirty="0"/>
              <a:t>7 de ellas</a:t>
            </a:r>
            <a:r>
              <a:rPr lang="es-ES" dirty="0"/>
              <a:t>. Para ser la primera versión, es un éxito total.</a:t>
            </a:r>
          </a:p>
          <a:p>
            <a:r>
              <a:rPr lang="es-ES" b="1" dirty="0"/>
              <a:t>Top-5 </a:t>
            </a:r>
            <a:r>
              <a:rPr lang="es-ES" b="1" dirty="0" err="1"/>
              <a:t>Accuracy</a:t>
            </a:r>
            <a:r>
              <a:rPr lang="es-ES" b="1" dirty="0"/>
              <a:t> (0.963 → 96.3%):</a:t>
            </a:r>
            <a:r>
              <a:rPr lang="es-ES" dirty="0"/>
              <a:t> ¡Esto es brutal! Significa que en el </a:t>
            </a:r>
            <a:r>
              <a:rPr lang="es-ES" b="1" dirty="0"/>
              <a:t>96% de las veces</a:t>
            </a:r>
            <a:r>
              <a:rPr lang="es-ES" dirty="0"/>
              <a:t>, el alimento correcto está entre las 5 mejores predicciones del modelo. Casi nunca se equivoca por completo.</a:t>
            </a:r>
          </a:p>
          <a:p>
            <a:r>
              <a:rPr lang="es-ES" b="1" dirty="0"/>
              <a:t>2. La velocidad (Inferencia)</a:t>
            </a:r>
          </a:p>
          <a:p>
            <a:r>
              <a:rPr lang="es-ES" b="1" dirty="0" err="1"/>
              <a:t>Speed</a:t>
            </a:r>
            <a:r>
              <a:rPr lang="es-ES" b="1" dirty="0"/>
              <a:t>: 1.4ms </a:t>
            </a:r>
            <a:r>
              <a:rPr lang="es-ES" b="1" dirty="0" err="1"/>
              <a:t>inference</a:t>
            </a:r>
            <a:r>
              <a:rPr lang="es-ES" b="1" dirty="0"/>
              <a:t>:</a:t>
            </a:r>
            <a:r>
              <a:rPr lang="es-ES" dirty="0"/>
              <a:t> Tu modelo es un rayo. Tarda solo </a:t>
            </a:r>
            <a:r>
              <a:rPr lang="es-ES" b="1" dirty="0"/>
              <a:t>1.4 milisegundos</a:t>
            </a:r>
            <a:r>
              <a:rPr lang="es-ES" dirty="0"/>
              <a:t> en procesar una imagen. Esto significa que en una aplicación real, podrías analizar cientos de fotos por segundo sin que el usuario note ningún retraso.</a:t>
            </a:r>
          </a:p>
          <a:p>
            <a:r>
              <a:rPr lang="es-ES" b="1" dirty="0"/>
              <a:t>3. El archivo clave: </a:t>
            </a:r>
            <a:r>
              <a:rPr lang="es-E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best.pt</a:t>
            </a:r>
            <a:endParaRPr lang="es-ES" b="1" dirty="0"/>
          </a:p>
          <a:p>
            <a:r>
              <a:rPr lang="es-ES" dirty="0"/>
              <a:t>El sistema ha generado dos archivos en tu Drive. El que nos importa es </a:t>
            </a:r>
            <a:r>
              <a:rPr lang="es-E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best.pt</a:t>
            </a:r>
            <a:r>
              <a:rPr lang="es-ES" dirty="0"/>
              <a:t> (el modelo con "mejores" notas).</a:t>
            </a:r>
          </a:p>
          <a:p>
            <a:r>
              <a:rPr lang="es-ES" b="1" dirty="0" err="1"/>
              <a:t>Optimizer</a:t>
            </a:r>
            <a:r>
              <a:rPr lang="es-ES" b="1" dirty="0"/>
              <a:t> </a:t>
            </a:r>
            <a:r>
              <a:rPr lang="es-ES" b="1" dirty="0" err="1"/>
              <a:t>stripped</a:t>
            </a:r>
            <a:r>
              <a:rPr lang="es-ES" b="1" dirty="0"/>
              <a:t>:</a:t>
            </a:r>
            <a:r>
              <a:rPr lang="es-ES" dirty="0"/>
              <a:t> Esto significa que el archivo se ha "limpiado" de datos innecesarios de entrenamiento para que ocupe muy poco (3MB). Es un tamaño perfecto para subirlo a una web o una App móvil.</a:t>
            </a:r>
          </a:p>
          <a:p>
            <a:endParaRPr lang="es-ES" dirty="0"/>
          </a:p>
          <a:p>
            <a:endParaRPr lang="es-ES" dirty="0"/>
          </a:p>
          <a:p>
            <a:r>
              <a:rPr lang="es-ES" dirty="0" err="1"/>
              <a:t>E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poch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	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GPU_mem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	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	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Instances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	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Size</a:t>
            </a:r>
            <a:endParaRPr lang="es-E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Downloading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https://ultralytics.com/assets/Arial.ttf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'/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root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/.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Ultralytics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/Arial.ttf': 100% ━━━━━━━━━━━━ 755.1KB 16.6MB/s 0.0s </a:t>
            </a:r>
          </a:p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1/25 	0G 	2.964 	2 	640: 100% ━━━━━━━━━━━━ 372/372 10.9s/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1:07:36 </a:t>
            </a:r>
          </a:p>
          <a:p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classes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top1_acc top5_acc: 100% ━━━━━━━━━━━━ 47/47 12.5s/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9:49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0.312 0.7</a:t>
            </a:r>
          </a:p>
          <a:p>
            <a:endParaRPr lang="es-E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Epoch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GPU_mem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Instances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Size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2/25 	0G 	2.218 	16 	640: 84% ━━━━━━━━━━── 312/372 7.6s/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40:34&lt;7:34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br>
              <a:rPr lang="es-ES" dirty="0"/>
            </a:br>
            <a:r>
              <a:rPr lang="es-ES" dirty="0"/>
              <a:t>para meterlo en el script después</a:t>
            </a:r>
            <a:br>
              <a:rPr lang="es-ES" dirty="0"/>
            </a:br>
            <a:r>
              <a:rPr lang="es-ES" dirty="0"/>
              <a:t>¿Te gustaría que te prepare el código para cargar ese archivo </a:t>
            </a:r>
            <a:r>
              <a:rPr lang="es-E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best.pt</a:t>
            </a:r>
            <a:r>
              <a:rPr lang="es-ES" dirty="0"/>
              <a:t> una vez termine y hacer una prueba real con una foto de tu nevera para ver qué detecta?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B82939-699F-4CDF-97CA-30C5255E19A5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018115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B82939-699F-4CDF-97CA-30C5255E19A5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5929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2F14A5-CDA5-15DE-115D-40207B914F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C5B1791-861F-F95E-6605-E067374169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1C419C9-5BD2-F79D-0DB8-CC148CA92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F47D-C945-4B4D-9035-43568B799F7F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537BFF-BD75-4EF1-C864-9E89CDA0B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F0CBE71-DC89-08FB-42EC-3BF6BBD15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A9447-4F62-4D53-9146-21AED8CB94F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9989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B746D4-AE78-6E44-3B10-F11867E34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0E588F8-C96D-5859-BFFC-600CF66EB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07F41A-FC7C-BCAB-49C6-3F782FFC8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F47D-C945-4B4D-9035-43568B799F7F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1F2178C-58CB-9114-DAFE-C720130A9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5C6729-D7E8-F664-B96D-E1661841A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A9447-4F62-4D53-9146-21AED8CB94F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0483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E1841E-63D2-F156-1E9A-F11591DDF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DF63196-7A99-173E-7F5E-E6E9E4A4F1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B94AD5-79F4-5D12-F7CD-4D80171EC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F47D-C945-4B4D-9035-43568B799F7F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7AEB45-EC95-9AFD-95EE-CB801B18F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4D89739-B7F8-6EB5-3E4F-6BA11B66B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A9447-4F62-4D53-9146-21AED8CB94F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7146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D1DE14-8753-6E63-524C-EE7B92B6C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EA2C2AC-0240-4FEE-A95D-8B1F9A77F2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7D8B10C-2CF5-F355-11D1-67C3FA344F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759AF45-4973-4C30-30B7-402A063BB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F47D-C945-4B4D-9035-43568B799F7F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5019DC0-C5E5-D802-5A68-69D7B25ED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EB92C43-1035-2E04-9F67-9EF70B138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A9447-4F62-4D53-9146-21AED8CB94F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20608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1619CC-AB5E-E165-E295-123A51E68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2789F5C-650B-ED6E-913B-F245D1E4F7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5239CAC-1F6D-FE26-4A08-B8793B6A5C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DB47BB-2401-1E4D-EE14-B3CDDADAC3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DAFB917-1347-4A09-1F2B-8C09ACC0D5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80D059A-9E98-52B2-0538-49784494F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F47D-C945-4B4D-9035-43568B799F7F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74E92D8-270B-8808-5A62-A0D4EEFA7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E01E8EE-AE9F-5504-44C8-8C0877C86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A9447-4F62-4D53-9146-21AED8CB94F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76325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D42BA4-3644-52F9-FA8F-E3964E4BA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A13025C-518D-DDE3-4596-4ABB361BC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F47D-C945-4B4D-9035-43568B799F7F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B453DF5-D798-09C2-F1E7-FCCE00315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33EEF1C-1A8C-44B3-CD01-70BB55C72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A9447-4F62-4D53-9146-21AED8CB94F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9632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24DDD59-3380-9F23-FF41-5D8FFCA47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F47D-C945-4B4D-9035-43568B799F7F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4CD9AF0-832E-3DB6-F697-5D4DCF5E0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CC54E1B-39EC-4031-23EC-4A86B9D5B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A9447-4F62-4D53-9146-21AED8CB94F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87031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701AAE-1618-6431-5846-230CE1729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FEA76FD-3ED1-1ACC-08A3-76CC47FF84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737D5CD-735E-1D67-E59A-C6C0271667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A146D66-97A4-E6F8-AB1B-5BF9CA069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F47D-C945-4B4D-9035-43568B799F7F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37B2C00-D56F-4629-E5B3-586E71F54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E3D4233-7483-6952-E859-04D7ABEE1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A9447-4F62-4D53-9146-21AED8CB94F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6027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3976DE-D53E-A9A1-8364-FFBC9FBC8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759B569-CD89-1CA8-30F8-76B43A008A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ABDC7AD-8E8C-2689-73AC-1036FA3E9A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E58B391-AED1-63C5-CEAB-E22FCAF7C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F47D-C945-4B4D-9035-43568B799F7F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F3AC34B-27C8-A093-C0CE-294721044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4EC8715-7ECB-D95B-9A5B-94F81C64F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A9447-4F62-4D53-9146-21AED8CB94F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5784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DB9E44-D898-8FC2-2AEA-A819C891C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8473524-C7E3-F22E-8191-51796378AE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F6DCE5-F345-72FB-5821-6EA70A44F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F47D-C945-4B4D-9035-43568B799F7F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EB37100-7EC2-65EB-8A0B-972DAA6A4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9ED2CB-9D47-44A9-1720-FE5F07D84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A9447-4F62-4D53-9146-21AED8CB94F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96342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5F11088-3A08-3DC2-014C-A00CC96377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F157DF7-CF45-3D2E-6030-748BE5E830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1CF92A6-B119-C812-C923-1FF3C8AAD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F47D-C945-4B4D-9035-43568B799F7F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71095D4-C434-9394-DB1F-0E3513167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08D6BA4-4C0E-8A6F-0613-59A8AF5F7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A9447-4F62-4D53-9146-21AED8CB94F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8347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EE06580-BCBE-F84C-F30F-9B6EE0942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C2BE234-FB39-DD5A-A339-D33D73DF9B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B4F99F-0555-C663-74FE-209E2CBA54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FAF47D-C945-4B4D-9035-43568B799F7F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08815B-B787-21C0-9836-5459A43620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8E33A6-2E87-F619-CEA5-77E93C39CD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CA9447-4F62-4D53-9146-21AED8CB94F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3858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1.png"/><Relationship Id="rId7" Type="http://schemas.openxmlformats.org/officeDocument/2006/relationships/diagramLayout" Target="../diagrams/layout1.xml"/><Relationship Id="rId12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1.xml"/><Relationship Id="rId11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microsoft.com/office/2007/relationships/diagramDrawing" Target="../diagrams/drawing1.xml"/><Relationship Id="rId4" Type="http://schemas.openxmlformats.org/officeDocument/2006/relationships/image" Target="../media/image2.png"/><Relationship Id="rId9" Type="http://schemas.openxmlformats.org/officeDocument/2006/relationships/diagramColors" Target="../diagrams/colors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Relationship Id="rId9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Relationship Id="rId9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D469DA33-85D7-1B5E-4C41-B46C3690CD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1866" y="4514756"/>
            <a:ext cx="3087307" cy="2343244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1081EDF4-BF2C-DAEF-0337-4461BA2A8D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623" y="1485298"/>
            <a:ext cx="5473874" cy="1587872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B5DB42E6-8039-8904-54E4-C0FC7267D47B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41" t="11415" r="7179" b="19817"/>
          <a:stretch>
            <a:fillRect/>
          </a:stretch>
        </p:blipFill>
        <p:spPr>
          <a:xfrm>
            <a:off x="11080315" y="2958663"/>
            <a:ext cx="1033397" cy="1402069"/>
          </a:xfrm>
          <a:prstGeom prst="rect">
            <a:avLst/>
          </a:prstGeom>
        </p:spPr>
      </p:pic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C164621A-E958-0C38-3420-E25E0CE434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9005822"/>
              </p:ext>
            </p:extLst>
          </p:nvPr>
        </p:nvGraphicFramePr>
        <p:xfrm>
          <a:off x="594986" y="1565754"/>
          <a:ext cx="10758814" cy="43450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pic>
        <p:nvPicPr>
          <p:cNvPr id="8" name="Imagen 7">
            <a:extLst>
              <a:ext uri="{FF2B5EF4-FFF2-40B4-BE49-F238E27FC236}">
                <a16:creationId xmlns:a16="http://schemas.microsoft.com/office/drawing/2014/main" id="{A24F25A5-886F-9C69-04CA-BD1C7688977C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88" y="3030502"/>
            <a:ext cx="1131494" cy="1508658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27B4B1D8-0904-6A2D-085C-ACDFA360C6F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81835" y="1485298"/>
            <a:ext cx="3014626" cy="1791865"/>
          </a:xfrm>
          <a:prstGeom prst="rect">
            <a:avLst/>
          </a:prstGeom>
        </p:spPr>
      </p:pic>
      <p:sp>
        <p:nvSpPr>
          <p:cNvPr id="18" name="Título 1">
            <a:extLst>
              <a:ext uri="{FF2B5EF4-FFF2-40B4-BE49-F238E27FC236}">
                <a16:creationId xmlns:a16="http://schemas.microsoft.com/office/drawing/2014/main" id="{36C49250-1925-E0E0-D726-2A28ADCC2E65}"/>
              </a:ext>
            </a:extLst>
          </p:cNvPr>
          <p:cNvSpPr txBox="1">
            <a:spLocks/>
          </p:cNvSpPr>
          <p:nvPr/>
        </p:nvSpPr>
        <p:spPr>
          <a:xfrm>
            <a:off x="990600" y="462616"/>
            <a:ext cx="10515600" cy="66827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1" i="0" u="none" strike="noStrike" kern="1200" cap="all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Gill Sans MT" panose="020B0502020104020203"/>
                <a:ea typeface="+mj-ea"/>
                <a:cs typeface="+mj-cs"/>
              </a:rPr>
              <a:t>Sistema de </a:t>
            </a:r>
            <a:r>
              <a:rPr kumimoji="0" lang="es-ES" sz="2000" b="1" i="0" u="none" strike="noStrike" kern="1200" cap="all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Gill Sans MT" panose="020B0502020104020203"/>
                <a:ea typeface="+mj-ea"/>
                <a:cs typeface="+mj-cs"/>
              </a:rPr>
              <a:t>Object</a:t>
            </a:r>
            <a:r>
              <a:rPr kumimoji="0" lang="es-ES" sz="2000" b="1" i="0" u="none" strike="noStrike" kern="1200" cap="all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Gill Sans MT" panose="020B0502020104020203"/>
                <a:ea typeface="+mj-ea"/>
                <a:cs typeface="+mj-cs"/>
              </a:rPr>
              <a:t> </a:t>
            </a:r>
            <a:r>
              <a:rPr kumimoji="0" lang="es-ES" sz="2000" b="1" i="0" u="none" strike="noStrike" kern="1200" cap="all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Gill Sans MT" panose="020B0502020104020203"/>
                <a:ea typeface="+mj-ea"/>
                <a:cs typeface="+mj-cs"/>
              </a:rPr>
              <a:t>Detection</a:t>
            </a:r>
            <a:r>
              <a:rPr kumimoji="0" lang="es-ES" sz="2000" b="1" i="0" u="none" strike="noStrike" kern="1200" cap="all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Gill Sans MT" panose="020B0502020104020203"/>
                <a:ea typeface="+mj-ea"/>
                <a:cs typeface="+mj-cs"/>
              </a:rPr>
              <a:t> / clasificación </a:t>
            </a:r>
            <a:r>
              <a:rPr kumimoji="0" lang="es-ES" sz="2000" b="1" i="0" u="none" strike="noStrike" kern="1200" cap="all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Gill Sans MT" panose="020B0502020104020203"/>
                <a:ea typeface="+mj-ea"/>
                <a:cs typeface="+mj-cs"/>
              </a:rPr>
              <a:t>multi</a:t>
            </a:r>
            <a:r>
              <a:rPr kumimoji="0" lang="es-ES" sz="2000" b="1" i="0" u="none" strike="noStrike" kern="1200" cap="all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Gill Sans MT" panose="020B0502020104020203"/>
                <a:ea typeface="+mj-ea"/>
                <a:cs typeface="+mj-cs"/>
              </a:rPr>
              <a:t>-etiqueta </a:t>
            </a:r>
            <a:br>
              <a:rPr kumimoji="0" lang="es-ES" sz="2000" b="1" i="0" u="none" strike="noStrike" kern="1200" cap="all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Gill Sans MT" panose="020B0502020104020203"/>
                <a:ea typeface="+mj-ea"/>
                <a:cs typeface="+mj-cs"/>
              </a:rPr>
            </a:br>
            <a:endParaRPr kumimoji="0" lang="es-ES" sz="1600" b="1" i="0" u="none" strike="noStrike" kern="1200" cap="all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Gill Sans MT" panose="020B0502020104020203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88186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2F70E-F19E-0299-6B3F-6CDAB989D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ítulo 1">
            <a:extLst>
              <a:ext uri="{FF2B5EF4-FFF2-40B4-BE49-F238E27FC236}">
                <a16:creationId xmlns:a16="http://schemas.microsoft.com/office/drawing/2014/main" id="{5BA522DB-584B-6F4B-49BC-8F88196F1219}"/>
              </a:ext>
            </a:extLst>
          </p:cNvPr>
          <p:cNvSpPr txBox="1">
            <a:spLocks/>
          </p:cNvSpPr>
          <p:nvPr/>
        </p:nvSpPr>
        <p:spPr>
          <a:xfrm>
            <a:off x="990600" y="462616"/>
            <a:ext cx="10515600" cy="66827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1" i="0" u="none" strike="noStrike" kern="1200" cap="all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Gill Sans MT" panose="020B0502020104020203"/>
                <a:ea typeface="+mj-ea"/>
                <a:cs typeface="+mj-cs"/>
              </a:rPr>
              <a:t>Sistema de Object Detection / clasificación multi-etiqueta </a:t>
            </a:r>
            <a:br>
              <a:rPr kumimoji="0" lang="es-ES" sz="2000" b="1" i="0" u="none" strike="noStrike" kern="1200" cap="all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Gill Sans MT" panose="020B0502020104020203"/>
                <a:ea typeface="+mj-ea"/>
                <a:cs typeface="+mj-cs"/>
              </a:rPr>
            </a:br>
            <a:endParaRPr kumimoji="0" lang="es-ES" sz="1600" b="1" i="0" u="none" strike="noStrike" kern="1200" cap="all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Gill Sans MT" panose="020B0502020104020203"/>
              <a:ea typeface="+mj-ea"/>
              <a:cs typeface="+mj-cs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F019000-744C-2733-24F0-9FC1A91EC297}"/>
              </a:ext>
            </a:extLst>
          </p:cNvPr>
          <p:cNvSpPr txBox="1"/>
          <p:nvPr/>
        </p:nvSpPr>
        <p:spPr>
          <a:xfrm>
            <a:off x="722611" y="2984564"/>
            <a:ext cx="1114788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0070C0"/>
                </a:solidFill>
                <a:latin typeface="Gill Sans MT" panose="020B0502020104020203" pitchFamily="34" charset="0"/>
              </a:rPr>
              <a:t>Enfoque:</a:t>
            </a:r>
          </a:p>
          <a:p>
            <a:r>
              <a:rPr lang="es-ES" b="1" dirty="0">
                <a:latin typeface="Gill Sans MT" panose="020B0502020104020203" pitchFamily="34" charset="0"/>
              </a:rPr>
              <a:t>PMV – </a:t>
            </a:r>
            <a:r>
              <a:rPr lang="es-ES" dirty="0">
                <a:latin typeface="Gill Sans MT" panose="020B0502020104020203" pitchFamily="34" charset="0"/>
              </a:rPr>
              <a:t>evaluación rápida de </a:t>
            </a:r>
            <a:r>
              <a:rPr lang="es-ES" b="1" dirty="0">
                <a:latin typeface="Gill Sans MT" panose="020B0502020104020203" pitchFamily="34" charset="0"/>
              </a:rPr>
              <a:t>viabilidad inicial</a:t>
            </a:r>
            <a:r>
              <a:rPr lang="es-ES" dirty="0">
                <a:latin typeface="Gill Sans MT" panose="020B0502020104020203" pitchFamily="34" charset="0"/>
              </a:rPr>
              <a:t> y </a:t>
            </a:r>
            <a:r>
              <a:rPr lang="es-ES" b="1" dirty="0">
                <a:latin typeface="Gill Sans MT" panose="020B0502020104020203" pitchFamily="34" charset="0"/>
              </a:rPr>
              <a:t>despliegue casi instantáneo</a:t>
            </a:r>
            <a:r>
              <a:rPr lang="es-ES" dirty="0">
                <a:latin typeface="Gill Sans MT" panose="020B0502020104020203" pitchFamily="34" charset="0"/>
              </a:rPr>
              <a:t> con un bajo coste inicial, probando el entendimiento del uso de la IA y facilitando el montaje del prototipo completo</a:t>
            </a:r>
            <a:br>
              <a:rPr lang="es-ES" dirty="0">
                <a:latin typeface="Gill Sans MT" panose="020B0502020104020203" pitchFamily="34" charset="0"/>
              </a:rPr>
            </a:br>
            <a:br>
              <a:rPr lang="es-ES" dirty="0">
                <a:latin typeface="Gill Sans MT" panose="020B0502020104020203" pitchFamily="34" charset="0"/>
              </a:rPr>
            </a:br>
            <a:r>
              <a:rPr lang="es-ES" dirty="0">
                <a:latin typeface="Gill Sans MT" panose="020B0502020104020203" pitchFamily="34" charset="0"/>
              </a:rPr>
              <a:t>Foco en el tratamiento de la </a:t>
            </a:r>
            <a:r>
              <a:rPr lang="es-ES" dirty="0" err="1">
                <a:latin typeface="Gill Sans MT" panose="020B0502020104020203" pitchFamily="34" charset="0"/>
              </a:rPr>
              <a:t>la</a:t>
            </a:r>
            <a:r>
              <a:rPr lang="es-ES" dirty="0">
                <a:latin typeface="Gill Sans MT" panose="020B0502020104020203" pitchFamily="34" charset="0"/>
              </a:rPr>
              <a:t> imagen de entrada (</a:t>
            </a:r>
            <a:r>
              <a:rPr lang="es-ES" dirty="0" err="1">
                <a:latin typeface="Gill Sans MT" panose="020B0502020104020203" pitchFamily="34" charset="0"/>
              </a:rPr>
              <a:t>ruta_imagen</a:t>
            </a:r>
            <a:r>
              <a:rPr lang="es-ES" dirty="0">
                <a:latin typeface="Gill Sans MT" panose="020B0502020104020203" pitchFamily="34" charset="0"/>
              </a:rPr>
              <a:t>) y en el ajuste de parámetros para eliminar errores de interpretación en el listado de ingredientes.</a:t>
            </a:r>
          </a:p>
          <a:p>
            <a:r>
              <a:rPr lang="es-ES" dirty="0">
                <a:latin typeface="Gill Sans MT" panose="020B0502020104020203" pitchFamily="34" charset="0"/>
              </a:rPr>
              <a:t>Se maximiza el tiempo en las pruebas.</a:t>
            </a:r>
          </a:p>
          <a:p>
            <a:r>
              <a:rPr lang="es-ES" dirty="0">
                <a:latin typeface="Gill Sans MT" panose="020B0502020104020203" pitchFamily="34" charset="0"/>
              </a:rPr>
              <a:t>Se agiliza tener resultados para los siguientes pasos del proyecto</a:t>
            </a:r>
          </a:p>
          <a:p>
            <a:endParaRPr lang="es-ES" dirty="0">
              <a:latin typeface="Gill Sans MT" panose="020B0502020104020203" pitchFamily="34" charset="0"/>
            </a:endParaRPr>
          </a:p>
          <a:p>
            <a:endParaRPr lang="es-ES" dirty="0">
              <a:latin typeface="Gill Sans MT" panose="020B0502020104020203" pitchFamily="34" charset="0"/>
            </a:endParaRPr>
          </a:p>
          <a:p>
            <a:r>
              <a:rPr lang="es-ES" dirty="0">
                <a:solidFill>
                  <a:srgbClr val="0070C0"/>
                </a:solidFill>
                <a:latin typeface="Gill Sans MT" panose="020B0502020104020203" pitchFamily="34" charset="0"/>
              </a:rPr>
              <a:t>Core del proyecto:</a:t>
            </a:r>
          </a:p>
          <a:p>
            <a:r>
              <a:rPr lang="es-ES" dirty="0">
                <a:latin typeface="Gill Sans MT" panose="020B0502020104020203" pitchFamily="34" charset="0"/>
              </a:rPr>
              <a:t>La estructura del desarrollo se basa en el modelo </a:t>
            </a:r>
            <a:r>
              <a:rPr lang="es-ES" b="1" dirty="0">
                <a:latin typeface="Gill Sans MT" panose="020B0502020104020203" pitchFamily="34" charset="0"/>
              </a:rPr>
              <a:t>gemini-1.5-flash</a:t>
            </a:r>
            <a:r>
              <a:rPr lang="es-ES" dirty="0">
                <a:latin typeface="Gill Sans MT" panose="020B0502020104020203" pitchFamily="34" charset="0"/>
              </a:rPr>
              <a:t>.</a:t>
            </a:r>
          </a:p>
          <a:p>
            <a:endParaRPr lang="es-ES" dirty="0">
              <a:latin typeface="Gill Sans MT" panose="020B0502020104020203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5DB42E6-8039-8904-54E4-C0FC7267D47B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41" t="11415" r="7179" b="19817"/>
          <a:stretch>
            <a:fillRect/>
          </a:stretch>
        </p:blipFill>
        <p:spPr>
          <a:xfrm>
            <a:off x="11080315" y="986636"/>
            <a:ext cx="1033397" cy="1402069"/>
          </a:xfrm>
          <a:prstGeom prst="rect">
            <a:avLst/>
          </a:prstGeom>
        </p:spPr>
      </p:pic>
      <p:graphicFrame>
        <p:nvGraphicFramePr>
          <p:cNvPr id="9" name="Marcador de contenido 3">
            <a:extLst>
              <a:ext uri="{FF2B5EF4-FFF2-40B4-BE49-F238E27FC236}">
                <a16:creationId xmlns:a16="http://schemas.microsoft.com/office/drawing/2014/main" id="{C164621A-E958-0C38-3420-E25E0CE434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9520195"/>
              </p:ext>
            </p:extLst>
          </p:nvPr>
        </p:nvGraphicFramePr>
        <p:xfrm>
          <a:off x="594986" y="-406273"/>
          <a:ext cx="10758814" cy="43450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Imagen 9">
            <a:extLst>
              <a:ext uri="{FF2B5EF4-FFF2-40B4-BE49-F238E27FC236}">
                <a16:creationId xmlns:a16="http://schemas.microsoft.com/office/drawing/2014/main" id="{A24F25A5-886F-9C69-04CA-BD1C7688977C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88" y="1058475"/>
            <a:ext cx="1131494" cy="1508658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758DC51A-4869-61D6-F920-A30ED7FECFA5}"/>
              </a:ext>
            </a:extLst>
          </p:cNvPr>
          <p:cNvSpPr txBox="1"/>
          <p:nvPr/>
        </p:nvSpPr>
        <p:spPr>
          <a:xfrm>
            <a:off x="7917816" y="4831223"/>
            <a:ext cx="4080307" cy="181588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===== MÉTRICAS DE PRECISIÓN =====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Precisión Top-1 (Exactitud): ~85% - 90%</a:t>
            </a:r>
          </a:p>
          <a:p>
            <a:pPr lvl="0">
              <a:defRPr/>
            </a:pPr>
            <a: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Precisión Top-5: </a:t>
            </a:r>
            <a:r>
              <a:rPr lang="es-ES" sz="1400" dirty="0"/>
              <a:t>~98%</a:t>
            </a:r>
          </a:p>
          <a:p>
            <a:pPr lvl="0">
              <a:defRPr/>
            </a:pPr>
            <a: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En la práctica ha sido de un 100%</a:t>
            </a:r>
          </a:p>
          <a:p>
            <a:pPr lvl="0">
              <a:defRPr/>
            </a:pPr>
            <a:endParaRPr kumimoji="0" lang="es-E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 pitchFamily="34" charset="0"/>
              <a:ea typeface="+mn-ea"/>
              <a:cs typeface="+mn-cs"/>
            </a:endParaRPr>
          </a:p>
          <a:p>
            <a:pPr>
              <a:defRPr/>
            </a:pPr>
            <a: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TIEMPO TOTAL: </a:t>
            </a:r>
            <a:r>
              <a:rPr lang="es-ES" sz="1400" dirty="0"/>
              <a:t>~1,200 ms - 2,500 ms</a:t>
            </a:r>
            <a: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 por imagen</a:t>
            </a:r>
            <a:br>
              <a:rPr lang="es-ES" sz="1400" dirty="0">
                <a:solidFill>
                  <a:prstClr val="black"/>
                </a:solidFill>
                <a:latin typeface="Gill Sans MT" panose="020B0502020104020203" pitchFamily="34" charset="0"/>
              </a:rPr>
            </a:br>
            <a:br>
              <a:rPr lang="es-ES" sz="1400" dirty="0">
                <a:solidFill>
                  <a:prstClr val="black"/>
                </a:solidFill>
                <a:latin typeface="Gill Sans MT" panose="020B0502020104020203" pitchFamily="34" charset="0"/>
              </a:rPr>
            </a:br>
            <a:r>
              <a:rPr lang="es-ES" sz="1400" dirty="0">
                <a:solidFill>
                  <a:prstClr val="black"/>
                </a:solidFill>
                <a:latin typeface="Gill Sans MT" panose="020B0502020104020203" pitchFamily="34" charset="0"/>
              </a:rPr>
              <a:t>TIPO de RECONOCIMIENTO: </a:t>
            </a:r>
            <a:r>
              <a:rPr lang="es-ES" sz="1400" dirty="0" err="1"/>
              <a:t>multietiqueta</a:t>
            </a:r>
            <a:r>
              <a:rPr lang="es-ES" sz="1400" dirty="0"/>
              <a:t> nativo</a:t>
            </a:r>
            <a:endParaRPr kumimoji="0" lang="es-E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790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2F70E-F19E-0299-6B3F-6CDAB989D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ítulo 1">
            <a:extLst>
              <a:ext uri="{FF2B5EF4-FFF2-40B4-BE49-F238E27FC236}">
                <a16:creationId xmlns:a16="http://schemas.microsoft.com/office/drawing/2014/main" id="{5BA522DB-584B-6F4B-49BC-8F88196F1219}"/>
              </a:ext>
            </a:extLst>
          </p:cNvPr>
          <p:cNvSpPr txBox="1">
            <a:spLocks/>
          </p:cNvSpPr>
          <p:nvPr/>
        </p:nvSpPr>
        <p:spPr>
          <a:xfrm>
            <a:off x="990600" y="462616"/>
            <a:ext cx="10515600" cy="66827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1" i="0" u="none" strike="noStrike" kern="1200" cap="all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Gill Sans MT" panose="020B0502020104020203"/>
                <a:ea typeface="+mj-ea"/>
                <a:cs typeface="+mj-cs"/>
              </a:rPr>
              <a:t>Sistema de Object Detection / clasificación multi-etiqueta </a:t>
            </a:r>
            <a:br>
              <a:rPr kumimoji="0" lang="es-ES" sz="2000" b="1" i="0" u="none" strike="noStrike" kern="1200" cap="all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Gill Sans MT" panose="020B0502020104020203"/>
                <a:ea typeface="+mj-ea"/>
                <a:cs typeface="+mj-cs"/>
              </a:rPr>
            </a:br>
            <a:endParaRPr kumimoji="0" lang="es-ES" sz="1600" b="1" i="0" u="none" strike="noStrike" kern="1200" cap="all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Gill Sans MT" panose="020B0502020104020203"/>
              <a:ea typeface="+mj-ea"/>
              <a:cs typeface="+mj-cs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F019000-744C-2733-24F0-9FC1A91EC297}"/>
              </a:ext>
            </a:extLst>
          </p:cNvPr>
          <p:cNvSpPr txBox="1"/>
          <p:nvPr/>
        </p:nvSpPr>
        <p:spPr>
          <a:xfrm>
            <a:off x="722611" y="2797275"/>
            <a:ext cx="1114788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0070C0"/>
                </a:solidFill>
                <a:latin typeface="Gill Sans MT" panose="020B0502020104020203" pitchFamily="34" charset="0"/>
              </a:rPr>
              <a:t>Profesionalizar el modelo:</a:t>
            </a:r>
          </a:p>
          <a:p>
            <a:r>
              <a:rPr lang="es-ES" dirty="0">
                <a:latin typeface="Gill Sans MT" panose="020B0502020104020203" pitchFamily="34" charset="0"/>
              </a:rPr>
              <a:t>Pasaríamos a un modelo local de </a:t>
            </a:r>
            <a:r>
              <a:rPr lang="es-ES" dirty="0" err="1">
                <a:latin typeface="Gill Sans MT" panose="020B0502020104020203" pitchFamily="34" charset="0"/>
              </a:rPr>
              <a:t>Computer</a:t>
            </a:r>
            <a:r>
              <a:rPr lang="es-ES" dirty="0">
                <a:latin typeface="Gill Sans MT" panose="020B0502020104020203" pitchFamily="34" charset="0"/>
              </a:rPr>
              <a:t> </a:t>
            </a:r>
            <a:r>
              <a:rPr lang="es-ES" dirty="0" err="1">
                <a:latin typeface="Gill Sans MT" panose="020B0502020104020203" pitchFamily="34" charset="0"/>
              </a:rPr>
              <a:t>Vision</a:t>
            </a:r>
            <a:r>
              <a:rPr lang="es-ES" dirty="0">
                <a:latin typeface="Gill Sans MT" panose="020B0502020104020203" pitchFamily="34" charset="0"/>
              </a:rPr>
              <a:t> (YOLOv8). </a:t>
            </a:r>
          </a:p>
          <a:p>
            <a:r>
              <a:rPr lang="es-ES" dirty="0">
                <a:latin typeface="Gill Sans MT" panose="020B0502020104020203" pitchFamily="34" charset="0"/>
              </a:rPr>
              <a:t>Esto requeriría un ciclo de </a:t>
            </a:r>
            <a:r>
              <a:rPr lang="es-ES" dirty="0" err="1">
                <a:latin typeface="Gill Sans MT" panose="020B0502020104020203" pitchFamily="34" charset="0"/>
              </a:rPr>
              <a:t>MLOps</a:t>
            </a:r>
            <a:r>
              <a:rPr lang="es-ES" dirty="0">
                <a:latin typeface="Gill Sans MT" panose="020B0502020104020203" pitchFamily="34" charset="0"/>
              </a:rPr>
              <a:t>: </a:t>
            </a:r>
          </a:p>
          <a:p>
            <a:endParaRPr lang="es-ES" dirty="0">
              <a:latin typeface="Gill Sans MT" panose="020B0502020104020203" pitchFamily="34" charset="0"/>
            </a:endParaRPr>
          </a:p>
          <a:p>
            <a:endParaRPr lang="es-ES" dirty="0">
              <a:latin typeface="Gill Sans MT" panose="020B0502020104020203" pitchFamily="34" charset="0"/>
            </a:endParaRPr>
          </a:p>
          <a:p>
            <a:endParaRPr lang="es-ES" dirty="0">
              <a:latin typeface="Gill Sans MT" panose="020B0502020104020203" pitchFamily="34" charset="0"/>
            </a:endParaRPr>
          </a:p>
          <a:p>
            <a:endParaRPr lang="es-ES" dirty="0">
              <a:latin typeface="Gill Sans MT" panose="020B0502020104020203" pitchFamily="34" charset="0"/>
            </a:endParaRPr>
          </a:p>
          <a:p>
            <a:endParaRPr lang="es-ES" dirty="0">
              <a:latin typeface="Gill Sans MT" panose="020B0502020104020203" pitchFamily="34" charset="0"/>
            </a:endParaRPr>
          </a:p>
          <a:p>
            <a:endParaRPr lang="es-ES" dirty="0">
              <a:latin typeface="Gill Sans MT" panose="020B0502020104020203" pitchFamily="34" charset="0"/>
            </a:endParaRPr>
          </a:p>
          <a:p>
            <a:endParaRPr lang="es-ES" dirty="0">
              <a:latin typeface="Gill Sans MT" panose="020B0502020104020203" pitchFamily="34" charset="0"/>
            </a:endParaRPr>
          </a:p>
          <a:p>
            <a:r>
              <a:rPr lang="es-ES" b="1" dirty="0">
                <a:latin typeface="Gill Sans MT" panose="020B0502020104020203" pitchFamily="34" charset="0"/>
              </a:rPr>
              <a:t>¿Qué ganamos?</a:t>
            </a:r>
            <a:endParaRPr lang="es-ES" dirty="0">
              <a:latin typeface="Gill Sans MT" panose="020B0502020104020203" pitchFamily="34" charset="0"/>
            </a:endParaRPr>
          </a:p>
          <a:p>
            <a:r>
              <a:rPr lang="es-ES" dirty="0">
                <a:latin typeface="Gill Sans MT" panose="020B0502020104020203" pitchFamily="34" charset="0"/>
              </a:rPr>
              <a:t>Privacidad: Las fotos no salen de tu servidor hacia Google.</a:t>
            </a:r>
          </a:p>
          <a:p>
            <a:r>
              <a:rPr lang="es-ES" dirty="0">
                <a:latin typeface="Gill Sans MT" panose="020B0502020104020203" pitchFamily="34" charset="0"/>
              </a:rPr>
              <a:t>Coste: Una vez entrenado, procesar imágenes es gratis (no pagas por cada petición a la API).</a:t>
            </a:r>
          </a:p>
          <a:p>
            <a:r>
              <a:rPr lang="es-ES" dirty="0">
                <a:latin typeface="Gill Sans MT" panose="020B0502020104020203" pitchFamily="34" charset="0"/>
              </a:rPr>
              <a:t>Velocidad: Un modelo local suele ser mucho más rápido que una llamada de red a un modelo LLM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5DB42E6-8039-8904-54E4-C0FC7267D47B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41" t="11415" r="7179" b="19817"/>
          <a:stretch>
            <a:fillRect/>
          </a:stretch>
        </p:blipFill>
        <p:spPr>
          <a:xfrm>
            <a:off x="11080315" y="986636"/>
            <a:ext cx="1033397" cy="1402069"/>
          </a:xfrm>
          <a:prstGeom prst="rect">
            <a:avLst/>
          </a:prstGeom>
        </p:spPr>
      </p:pic>
      <p:graphicFrame>
        <p:nvGraphicFramePr>
          <p:cNvPr id="9" name="Marcador de contenido 3">
            <a:extLst>
              <a:ext uri="{FF2B5EF4-FFF2-40B4-BE49-F238E27FC236}">
                <a16:creationId xmlns:a16="http://schemas.microsoft.com/office/drawing/2014/main" id="{C164621A-E958-0C38-3420-E25E0CE434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9520195"/>
              </p:ext>
            </p:extLst>
          </p:nvPr>
        </p:nvGraphicFramePr>
        <p:xfrm>
          <a:off x="594986" y="-406273"/>
          <a:ext cx="10758814" cy="43450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Imagen 9">
            <a:extLst>
              <a:ext uri="{FF2B5EF4-FFF2-40B4-BE49-F238E27FC236}">
                <a16:creationId xmlns:a16="http://schemas.microsoft.com/office/drawing/2014/main" id="{A24F25A5-886F-9C69-04CA-BD1C7688977C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88" y="1058475"/>
            <a:ext cx="1131494" cy="1508658"/>
          </a:xfrm>
          <a:prstGeom prst="rect">
            <a:avLst/>
          </a:prstGeom>
        </p:spPr>
      </p:pic>
      <p:graphicFrame>
        <p:nvGraphicFramePr>
          <p:cNvPr id="15" name="Tabla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5797964"/>
              </p:ext>
            </p:extLst>
          </p:nvPr>
        </p:nvGraphicFramePr>
        <p:xfrm>
          <a:off x="1175570" y="3757420"/>
          <a:ext cx="10694928" cy="15544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127151">
                  <a:extLst>
                    <a:ext uri="{9D8B030D-6E8A-4147-A177-3AD203B41FA5}">
                      <a16:colId xmlns:a16="http://schemas.microsoft.com/office/drawing/2014/main" val="2739233586"/>
                    </a:ext>
                  </a:extLst>
                </a:gridCol>
                <a:gridCol w="5376231">
                  <a:extLst>
                    <a:ext uri="{9D8B030D-6E8A-4147-A177-3AD203B41FA5}">
                      <a16:colId xmlns:a16="http://schemas.microsoft.com/office/drawing/2014/main" val="3732701552"/>
                    </a:ext>
                  </a:extLst>
                </a:gridCol>
                <a:gridCol w="2191546">
                  <a:extLst>
                    <a:ext uri="{9D8B030D-6E8A-4147-A177-3AD203B41FA5}">
                      <a16:colId xmlns:a16="http://schemas.microsoft.com/office/drawing/2014/main" val="1226784988"/>
                    </a:ext>
                  </a:extLst>
                </a:gridCol>
              </a:tblGrid>
              <a:tr h="189478">
                <a:tc>
                  <a:txBody>
                    <a:bodyPr/>
                    <a:lstStyle/>
                    <a:p>
                      <a:r>
                        <a:rPr lang="es-ES" sz="1200" kern="1200" dirty="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Etiquetado de un </a:t>
                      </a:r>
                      <a:r>
                        <a:rPr lang="es-ES" sz="1200" kern="1200" dirty="0" err="1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dataset</a:t>
                      </a:r>
                      <a:r>
                        <a:rPr lang="es-ES" sz="1200" kern="1200" dirty="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 propio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kern="1200" dirty="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Volumen</a:t>
                      </a:r>
                      <a:r>
                        <a:rPr lang="es-ES" sz="1200" b="0" kern="1200" baseline="0" dirty="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 de al menos </a:t>
                      </a:r>
                      <a:r>
                        <a:rPr lang="es-ES" sz="1200" b="0" kern="1200" dirty="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1.000 imágenes.</a:t>
                      </a:r>
                    </a:p>
                    <a:p>
                      <a:r>
                        <a:rPr lang="es-ES" sz="1200" b="0" kern="1200" dirty="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Etiquetar de cada alimento (dibujar las cajas).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kern="1200" dirty="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Entre 40-60h</a:t>
                      </a:r>
                      <a:r>
                        <a:rPr lang="es-ES" sz="1200" b="0" kern="1200" baseline="0" dirty="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 de trabajo</a:t>
                      </a:r>
                      <a:endParaRPr lang="es-ES" sz="1200" b="0" kern="1200" dirty="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2379252"/>
                  </a:ext>
                </a:extLst>
              </a:tr>
              <a:tr h="341060">
                <a:tc>
                  <a:txBody>
                    <a:bodyPr/>
                    <a:lstStyle/>
                    <a:p>
                      <a:r>
                        <a:rPr lang="es-ES" sz="1200" b="1" kern="1200" dirty="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Entrenamiento (Training)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kern="1200" dirty="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Configurar el entorno y lanzar el proceso</a:t>
                      </a:r>
                    </a:p>
                    <a:p>
                      <a:r>
                        <a:rPr lang="es-ES" sz="1200" kern="1200" dirty="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Entrenamiento de modelos para el aprendizaje</a:t>
                      </a:r>
                    </a:p>
                    <a:p>
                      <a:r>
                        <a:rPr lang="es-ES" sz="1200" kern="1200" dirty="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Pruebas y </a:t>
                      </a:r>
                      <a:r>
                        <a:rPr lang="es-ES" sz="1200" kern="1200" dirty="0" err="1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Ajustespara</a:t>
                      </a:r>
                      <a:r>
                        <a:rPr lang="es-ES" sz="1200" kern="1200" dirty="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 ver dónde falla (ej. confunde yogures con vasos de leche) y re-entrenar.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kern="1200" dirty="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Unas 2-3</a:t>
                      </a:r>
                      <a:r>
                        <a:rPr lang="es-ES" sz="1200" kern="1200" baseline="0" dirty="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 semanas de trabajo para tener una primera versión funcional</a:t>
                      </a:r>
                      <a:endParaRPr lang="es-ES" sz="1200" kern="1200" dirty="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8976915"/>
                  </a:ext>
                </a:extLst>
              </a:tr>
              <a:tr h="153687">
                <a:tc>
                  <a:txBody>
                    <a:bodyPr/>
                    <a:lstStyle/>
                    <a:p>
                      <a:r>
                        <a:rPr lang="es-ES" sz="1200" b="1" dirty="0">
                          <a:latin typeface="Gill Sans MT" panose="020B0502020104020203" pitchFamily="34" charset="0"/>
                        </a:rPr>
                        <a:t>Despliegue del modelo (</a:t>
                      </a:r>
                      <a:r>
                        <a:rPr lang="es-ES" sz="1200" b="1" dirty="0" err="1">
                          <a:latin typeface="Gill Sans MT" panose="020B0502020104020203" pitchFamily="34" charset="0"/>
                        </a:rPr>
                        <a:t>Dockerización</a:t>
                      </a:r>
                      <a:r>
                        <a:rPr lang="es-ES" sz="1200" b="1" dirty="0">
                          <a:latin typeface="Gill Sans MT" panose="020B0502020104020203" pitchFamily="34" charset="0"/>
                        </a:rPr>
                        <a:t>)</a:t>
                      </a:r>
                      <a:endParaRPr lang="es-ES" sz="1200" b="1" kern="1200" dirty="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>
                          <a:latin typeface="Gill Sans MT" panose="020B0502020104020203" pitchFamily="34" charset="0"/>
                        </a:rPr>
                        <a:t>para que funcione sin dependencia de </a:t>
                      </a:r>
                      <a:r>
                        <a:rPr lang="es-ES" sz="1200" dirty="0" err="1">
                          <a:latin typeface="Gill Sans MT" panose="020B0502020104020203" pitchFamily="34" charset="0"/>
                        </a:rPr>
                        <a:t>APIs</a:t>
                      </a:r>
                      <a:r>
                        <a:rPr lang="es-ES" sz="1200" dirty="0">
                          <a:latin typeface="Gill Sans MT" panose="020B0502020104020203" pitchFamily="34" charset="0"/>
                        </a:rPr>
                        <a:t> externas, reduciendo costes y latencia</a:t>
                      </a:r>
                      <a:endParaRPr lang="es-ES" sz="1200" kern="1200" dirty="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kern="1200" dirty="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37473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7433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9CA65-DFE5-910E-0B92-E505EFD4E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ítulo 1">
            <a:extLst>
              <a:ext uri="{FF2B5EF4-FFF2-40B4-BE49-F238E27FC236}">
                <a16:creationId xmlns:a16="http://schemas.microsoft.com/office/drawing/2014/main" id="{1EBC07BF-C8F4-FE0F-FDA8-D83CDA467A54}"/>
              </a:ext>
            </a:extLst>
          </p:cNvPr>
          <p:cNvSpPr txBox="1">
            <a:spLocks/>
          </p:cNvSpPr>
          <p:nvPr/>
        </p:nvSpPr>
        <p:spPr>
          <a:xfrm>
            <a:off x="990600" y="462616"/>
            <a:ext cx="10515600" cy="66827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1" i="0" u="none" strike="noStrike" kern="1200" cap="all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Gill Sans MT" panose="020B0502020104020203"/>
                <a:ea typeface="+mj-ea"/>
                <a:cs typeface="+mj-cs"/>
              </a:rPr>
              <a:t>Sistema de Object Detection / clasificación multi-etiqueta </a:t>
            </a:r>
            <a:br>
              <a:rPr kumimoji="0" lang="es-ES" sz="2000" b="1" i="0" u="none" strike="noStrike" kern="1200" cap="all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Gill Sans MT" panose="020B0502020104020203"/>
                <a:ea typeface="+mj-ea"/>
                <a:cs typeface="+mj-cs"/>
              </a:rPr>
            </a:br>
            <a:endParaRPr kumimoji="0" lang="es-ES" sz="1600" b="1" i="0" u="none" strike="noStrike" kern="1200" cap="all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Gill Sans MT" panose="020B0502020104020203"/>
              <a:ea typeface="+mj-ea"/>
              <a:cs typeface="+mj-c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F019000-744C-2733-24F0-9FC1A91EC297}"/>
              </a:ext>
            </a:extLst>
          </p:cNvPr>
          <p:cNvSpPr txBox="1"/>
          <p:nvPr/>
        </p:nvSpPr>
        <p:spPr>
          <a:xfrm>
            <a:off x="540991" y="1449321"/>
            <a:ext cx="5487689" cy="513986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0070C0"/>
                </a:solidFill>
                <a:latin typeface="Gill Sans MT" panose="020B0502020104020203" pitchFamily="34" charset="0"/>
              </a:rPr>
              <a:t>Script de </a:t>
            </a:r>
            <a:r>
              <a:rPr lang="es-ES" dirty="0" err="1">
                <a:solidFill>
                  <a:srgbClr val="0070C0"/>
                </a:solidFill>
                <a:latin typeface="Gill Sans MT" panose="020B0502020104020203" pitchFamily="34" charset="0"/>
              </a:rPr>
              <a:t>tagueado</a:t>
            </a:r>
            <a:r>
              <a:rPr lang="es-ES" dirty="0">
                <a:solidFill>
                  <a:srgbClr val="0070C0"/>
                </a:solidFill>
                <a:latin typeface="Gill Sans MT" panose="020B0502020104020203" pitchFamily="34" charset="0"/>
              </a:rPr>
              <a:t> automatizado de imágenes:</a:t>
            </a:r>
          </a:p>
          <a:p>
            <a:r>
              <a:rPr lang="es-ES" sz="1400" i="1" dirty="0">
                <a:solidFill>
                  <a:srgbClr val="0070C0"/>
                </a:solidFill>
                <a:latin typeface="Gill Sans MT" panose="020B0502020104020203" pitchFamily="34" charset="0"/>
              </a:rPr>
              <a:t>(Recuperar y </a:t>
            </a:r>
            <a:r>
              <a:rPr lang="es-ES" sz="1400" i="1" dirty="0" err="1">
                <a:solidFill>
                  <a:srgbClr val="0070C0"/>
                </a:solidFill>
                <a:latin typeface="Gill Sans MT" panose="020B0502020104020203" pitchFamily="34" charset="0"/>
              </a:rPr>
              <a:t>taguear</a:t>
            </a:r>
            <a:r>
              <a:rPr lang="es-ES" sz="1400" i="1" dirty="0">
                <a:solidFill>
                  <a:srgbClr val="0070C0"/>
                </a:solidFill>
                <a:latin typeface="Gill Sans MT" panose="020B0502020104020203" pitchFamily="34" charset="0"/>
              </a:rPr>
              <a:t> imagenes2.ipynb)</a:t>
            </a:r>
            <a:endParaRPr lang="es-ES" i="1" dirty="0">
              <a:solidFill>
                <a:srgbClr val="0070C0"/>
              </a:solidFill>
              <a:latin typeface="Gill Sans MT" panose="020B0502020104020203" pitchFamily="34" charset="0"/>
            </a:endParaRPr>
          </a:p>
          <a:p>
            <a:pPr>
              <a:spcBef>
                <a:spcPts val="600"/>
              </a:spcBef>
            </a:pPr>
            <a:r>
              <a:rPr lang="es-ES" dirty="0">
                <a:latin typeface="Gill Sans MT" panose="020B0502020104020203" pitchFamily="34" charset="0"/>
              </a:rPr>
              <a:t>Automatiza la creación de un "entorno de entrenamiento" estructurado</a:t>
            </a:r>
          </a:p>
          <a:p>
            <a:endParaRPr lang="es-ES" dirty="0">
              <a:latin typeface="Gill Sans MT" panose="020B0502020104020203" pitchFamily="34" charset="0"/>
            </a:endParaRPr>
          </a:p>
          <a:p>
            <a:r>
              <a:rPr lang="es-ES" sz="1600" dirty="0">
                <a:latin typeface="Gill Sans MT" panose="020B0502020104020203" pitchFamily="34" charset="0"/>
              </a:rPr>
              <a:t>Actividades:</a:t>
            </a:r>
          </a:p>
          <a:p>
            <a:endParaRPr lang="es-ES" sz="1600" dirty="0">
              <a:latin typeface="Gill Sans MT" panose="020B0502020104020203" pitchFamily="34" charset="0"/>
            </a:endParaRPr>
          </a:p>
          <a:p>
            <a:pPr marL="342900" indent="-342900">
              <a:buAutoNum type="arabicPeriod"/>
            </a:pPr>
            <a:r>
              <a:rPr lang="es-ES" sz="1600" dirty="0">
                <a:latin typeface="Gill Sans MT" panose="020B0502020104020203" pitchFamily="34" charset="0"/>
              </a:rPr>
              <a:t>Ingestión Automatizada y Orquestación (</a:t>
            </a:r>
            <a:r>
              <a:rPr lang="es-ES" sz="1600" dirty="0" err="1">
                <a:latin typeface="Gill Sans MT" panose="020B0502020104020203" pitchFamily="34" charset="0"/>
              </a:rPr>
              <a:t>FiftyOne</a:t>
            </a:r>
            <a:r>
              <a:rPr lang="es-ES" sz="1600" dirty="0">
                <a:latin typeface="Gill Sans MT" panose="020B0502020104020203" pitchFamily="34" charset="0"/>
              </a:rPr>
              <a:t>)</a:t>
            </a:r>
          </a:p>
          <a:p>
            <a:pPr lvl="1"/>
            <a:r>
              <a:rPr lang="es-ES" sz="1400" dirty="0">
                <a:latin typeface="Gill Sans MT" panose="020B0502020104020203" pitchFamily="34" charset="0"/>
              </a:rPr>
              <a:t>Open </a:t>
            </a:r>
            <a:r>
              <a:rPr lang="es-ES" sz="1400" dirty="0" err="1">
                <a:latin typeface="Gill Sans MT" panose="020B0502020104020203" pitchFamily="34" charset="0"/>
              </a:rPr>
              <a:t>Image</a:t>
            </a:r>
            <a:r>
              <a:rPr lang="es-ES" sz="1400" dirty="0">
                <a:latin typeface="Gill Sans MT" panose="020B0502020104020203" pitchFamily="34" charset="0"/>
              </a:rPr>
              <a:t> </a:t>
            </a:r>
            <a:r>
              <a:rPr lang="es-ES" sz="1400" dirty="0" err="1">
                <a:latin typeface="Gill Sans MT" panose="020B0502020104020203" pitchFamily="34" charset="0"/>
              </a:rPr>
              <a:t>Dataset</a:t>
            </a:r>
            <a:r>
              <a:rPr lang="es-ES" sz="1400" dirty="0">
                <a:latin typeface="Gill Sans MT" panose="020B0502020104020203" pitchFamily="34" charset="0"/>
              </a:rPr>
              <a:t> v7.</a:t>
            </a:r>
          </a:p>
          <a:p>
            <a:pPr lvl="1"/>
            <a:r>
              <a:rPr lang="en-US" sz="1400" dirty="0">
                <a:solidFill>
                  <a:srgbClr val="FF0000"/>
                </a:solidFill>
                <a:latin typeface="Gill Sans MT" panose="020B0502020104020203" pitchFamily="34" charset="0"/>
              </a:rPr>
              <a:t>COCO Dataset (Common Objects in Context)</a:t>
            </a:r>
          </a:p>
          <a:p>
            <a:pPr lvl="1"/>
            <a:r>
              <a:rPr lang="es-ES" sz="1400" dirty="0" err="1">
                <a:solidFill>
                  <a:srgbClr val="FF0000"/>
                </a:solidFill>
                <a:latin typeface="Gill Sans MT" panose="020B0502020104020203" pitchFamily="34" charset="0"/>
              </a:rPr>
              <a:t>Roboflow</a:t>
            </a:r>
            <a:r>
              <a:rPr lang="es-ES" sz="1400" dirty="0">
                <a:solidFill>
                  <a:srgbClr val="FF0000"/>
                </a:solidFill>
                <a:latin typeface="Gill Sans MT" panose="020B0502020104020203" pitchFamily="34" charset="0"/>
              </a:rPr>
              <a:t> </a:t>
            </a:r>
            <a:r>
              <a:rPr lang="es-ES" sz="1400" dirty="0" err="1">
                <a:solidFill>
                  <a:srgbClr val="FF0000"/>
                </a:solidFill>
                <a:latin typeface="Gill Sans MT" panose="020B0502020104020203" pitchFamily="34" charset="0"/>
              </a:rPr>
              <a:t>Universe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0"/>
            </a:endParaRPr>
          </a:p>
          <a:p>
            <a:pPr lvl="1"/>
            <a:r>
              <a:rPr lang="es-ES" sz="1400" dirty="0">
                <a:solidFill>
                  <a:srgbClr val="FF0000"/>
                </a:solidFill>
                <a:latin typeface="Gill Sans MT" panose="020B0502020104020203" pitchFamily="34" charset="0"/>
              </a:rPr>
              <a:t>Food-101</a:t>
            </a:r>
          </a:p>
          <a:p>
            <a:pPr marL="342900" indent="-342900">
              <a:buAutoNum type="arabicPeriod"/>
            </a:pPr>
            <a:r>
              <a:rPr lang="es-ES" sz="1600" dirty="0">
                <a:latin typeface="Gill Sans MT" panose="020B0502020104020203" pitchFamily="34" charset="0"/>
              </a:rPr>
              <a:t>Gestión de Almacenamiento Híbrido (Drive / Cloud Storage)</a:t>
            </a:r>
          </a:p>
          <a:p>
            <a:pPr marL="342900" indent="-342900">
              <a:buAutoNum type="arabicPeriod"/>
            </a:pPr>
            <a:r>
              <a:rPr lang="es-ES" sz="1600" dirty="0">
                <a:latin typeface="Gill Sans MT" panose="020B0502020104020203" pitchFamily="34" charset="0"/>
              </a:rPr>
              <a:t>Estandarización del </a:t>
            </a:r>
            <a:r>
              <a:rPr lang="es-ES" sz="1600" dirty="0" err="1">
                <a:latin typeface="Gill Sans MT" panose="020B0502020104020203" pitchFamily="34" charset="0"/>
              </a:rPr>
              <a:t>Dataset</a:t>
            </a:r>
            <a:r>
              <a:rPr lang="es-ES" sz="1600" dirty="0">
                <a:latin typeface="Gill Sans MT" panose="020B0502020104020203" pitchFamily="34" charset="0"/>
              </a:rPr>
              <a:t> (Etiquetado y Taxonomía)</a:t>
            </a:r>
          </a:p>
          <a:p>
            <a:pPr marL="342900" indent="-342900">
              <a:buAutoNum type="arabicPeriod"/>
            </a:pPr>
            <a:r>
              <a:rPr lang="es-ES" sz="1600" dirty="0">
                <a:latin typeface="Gill Sans MT" panose="020B0502020104020203" pitchFamily="34" charset="0"/>
              </a:rPr>
              <a:t>Generación de Metadatos (Archivo data.csv)</a:t>
            </a:r>
          </a:p>
          <a:p>
            <a:pPr marL="342900" indent="-342900">
              <a:buAutoNum type="arabicPeriod"/>
            </a:pPr>
            <a:r>
              <a:rPr lang="es-ES" sz="1600" dirty="0">
                <a:latin typeface="Gill Sans MT" panose="020B0502020104020203" pitchFamily="34" charset="0"/>
              </a:rPr>
              <a:t>Redimensionado de todas estas imágenes descargadas a un tamaño estándar (640x640)</a:t>
            </a:r>
          </a:p>
          <a:p>
            <a:pPr marL="342900" indent="-342900">
              <a:buAutoNum type="arabicPeriod"/>
            </a:pPr>
            <a:r>
              <a:rPr lang="es-ES" sz="1600" dirty="0" err="1">
                <a:latin typeface="Gill Sans MT" panose="020B0502020104020203" pitchFamily="34" charset="0"/>
              </a:rPr>
              <a:t>Augmentation</a:t>
            </a:r>
            <a:r>
              <a:rPr lang="es-ES" sz="1600" dirty="0">
                <a:latin typeface="Gill Sans MT" panose="020B0502020104020203" pitchFamily="34" charset="0"/>
              </a:rPr>
              <a:t> de las imágenes</a:t>
            </a:r>
          </a:p>
          <a:p>
            <a:pPr>
              <a:spcBef>
                <a:spcPts val="600"/>
              </a:spcBef>
            </a:pPr>
            <a:r>
              <a:rPr lang="es-ES" sz="1600" dirty="0">
                <a:latin typeface="Gill Sans MT" panose="020B0502020104020203" pitchFamily="34" charset="0"/>
              </a:rPr>
              <a:t>	</a:t>
            </a:r>
            <a:r>
              <a:rPr lang="es-ES" sz="1600" dirty="0">
                <a:solidFill>
                  <a:srgbClr val="0070C0"/>
                </a:solidFill>
                <a:latin typeface="Gill Sans MT" panose="020B0502020104020203" pitchFamily="34" charset="0"/>
              </a:rPr>
              <a:t>	          </a:t>
            </a:r>
            <a:r>
              <a:rPr lang="es-ES" sz="1400" dirty="0">
                <a:solidFill>
                  <a:srgbClr val="0070C0"/>
                </a:solidFill>
                <a:latin typeface="Gill Sans MT" panose="020B0502020104020203" pitchFamily="34" charset="0"/>
              </a:rPr>
              <a:t>Más de 7000 imágenes generadas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F019000-744C-2733-24F0-9FC1A91EC297}"/>
              </a:ext>
            </a:extLst>
          </p:cNvPr>
          <p:cNvSpPr txBox="1"/>
          <p:nvPr/>
        </p:nvSpPr>
        <p:spPr>
          <a:xfrm>
            <a:off x="551160" y="1023524"/>
            <a:ext cx="54876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0070C0"/>
                </a:solidFill>
                <a:latin typeface="Gill Sans MT" panose="020B0502020104020203" pitchFamily="34" charset="0"/>
              </a:rPr>
              <a:t>Piezas adicionalmente construidas:</a:t>
            </a:r>
          </a:p>
          <a:p>
            <a:endParaRPr lang="es-ES" dirty="0">
              <a:latin typeface="Gill Sans MT" panose="020B0502020104020203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F019000-744C-2733-24F0-9FC1A91EC297}"/>
              </a:ext>
            </a:extLst>
          </p:cNvPr>
          <p:cNvSpPr txBox="1"/>
          <p:nvPr/>
        </p:nvSpPr>
        <p:spPr>
          <a:xfrm>
            <a:off x="6248400" y="1461826"/>
            <a:ext cx="5487689" cy="352404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0070C0"/>
                </a:solidFill>
                <a:latin typeface="Gill Sans MT" panose="020B0502020104020203" pitchFamily="34" charset="0"/>
              </a:rPr>
              <a:t>Despliegue de API y exposición vía </a:t>
            </a:r>
            <a:r>
              <a:rPr lang="es-ES" dirty="0" err="1">
                <a:solidFill>
                  <a:srgbClr val="0070C0"/>
                </a:solidFill>
                <a:latin typeface="Gill Sans MT" panose="020B0502020104020203" pitchFamily="34" charset="0"/>
              </a:rPr>
              <a:t>Tunnel</a:t>
            </a:r>
            <a:r>
              <a:rPr lang="es-ES" dirty="0">
                <a:solidFill>
                  <a:srgbClr val="0070C0"/>
                </a:solidFill>
                <a:latin typeface="Gill Sans MT" panose="020B0502020104020203" pitchFamily="34" charset="0"/>
              </a:rPr>
              <a:t> de </a:t>
            </a:r>
            <a:r>
              <a:rPr lang="es-ES" dirty="0" err="1">
                <a:solidFill>
                  <a:srgbClr val="0070C0"/>
                </a:solidFill>
                <a:latin typeface="Gill Sans MT" panose="020B0502020104020203" pitchFamily="34" charset="0"/>
              </a:rPr>
              <a:t>colab</a:t>
            </a:r>
            <a:r>
              <a:rPr lang="es-ES" dirty="0">
                <a:solidFill>
                  <a:srgbClr val="0070C0"/>
                </a:solidFill>
                <a:latin typeface="Gill Sans MT" panose="020B0502020104020203" pitchFamily="34" charset="0"/>
              </a:rPr>
              <a:t>(local)</a:t>
            </a:r>
          </a:p>
          <a:p>
            <a:r>
              <a:rPr lang="es-ES" dirty="0">
                <a:latin typeface="Gill Sans MT" panose="020B0502020104020203" pitchFamily="34" charset="0"/>
              </a:rPr>
              <a:t>Permite que sistemas externos envíen imágenes para su análisis en tiempo real con GROK</a:t>
            </a:r>
            <a:br>
              <a:rPr lang="es-ES" dirty="0">
                <a:latin typeface="Gill Sans MT" panose="020B0502020104020203" pitchFamily="34" charset="0"/>
              </a:rPr>
            </a:br>
            <a:r>
              <a:rPr lang="es-ES" sz="1400" dirty="0">
                <a:latin typeface="Gill Sans MT" panose="020B0502020104020203" pitchFamily="34" charset="0"/>
              </a:rPr>
              <a:t>(</a:t>
            </a:r>
            <a:r>
              <a:rPr lang="es-ES" sz="1400" dirty="0" err="1">
                <a:latin typeface="Gill Sans MT" panose="020B0502020104020203" pitchFamily="34" charset="0"/>
              </a:rPr>
              <a:t>Identifica_Imagenes_nevera_IA_endpoint.ipynb</a:t>
            </a:r>
            <a:r>
              <a:rPr lang="es-ES" sz="1400" dirty="0">
                <a:latin typeface="Gill Sans MT" panose="020B0502020104020203" pitchFamily="34" charset="0"/>
              </a:rPr>
              <a:t>)</a:t>
            </a:r>
          </a:p>
          <a:p>
            <a:endParaRPr lang="es-ES" dirty="0">
              <a:latin typeface="Gill Sans MT" panose="020B0502020104020203" pitchFamily="34" charset="0"/>
            </a:endParaRPr>
          </a:p>
          <a:p>
            <a:r>
              <a:rPr lang="es-ES" sz="1600" dirty="0">
                <a:latin typeface="Gill Sans MT" panose="020B0502020104020203" pitchFamily="34" charset="0"/>
              </a:rPr>
              <a:t>Actividades:</a:t>
            </a:r>
          </a:p>
          <a:p>
            <a:pPr marL="342900" indent="-342900">
              <a:buAutoNum type="arabicPeriod"/>
            </a:pPr>
            <a:r>
              <a:rPr lang="es-ES" sz="1600" dirty="0">
                <a:latin typeface="Gill Sans MT" panose="020B0502020104020203" pitchFamily="34" charset="0"/>
              </a:rPr>
              <a:t>Configuración de Exposición (</a:t>
            </a:r>
            <a:r>
              <a:rPr lang="es-ES" sz="1600" dirty="0" err="1">
                <a:latin typeface="Gill Sans MT" panose="020B0502020104020203" pitchFamily="34" charset="0"/>
              </a:rPr>
              <a:t>ngrok</a:t>
            </a:r>
            <a:r>
              <a:rPr lang="es-ES" sz="1600" dirty="0">
                <a:latin typeface="Gill Sans MT" panose="020B0502020104020203" pitchFamily="34" charset="0"/>
              </a:rPr>
              <a:t>)</a:t>
            </a:r>
          </a:p>
          <a:p>
            <a:pPr marL="342900" indent="-342900">
              <a:buAutoNum type="arabicPeriod"/>
            </a:pPr>
            <a:r>
              <a:rPr lang="es-ES" sz="1600" dirty="0">
                <a:latin typeface="Gill Sans MT" panose="020B0502020104020203" pitchFamily="34" charset="0"/>
              </a:rPr>
              <a:t>Creación de un servidor web ligero para la gestión de peticiones HTTP.</a:t>
            </a:r>
          </a:p>
          <a:p>
            <a:pPr marL="342900" indent="-342900">
              <a:buAutoNum type="arabicPeriod"/>
            </a:pPr>
            <a:r>
              <a:rPr lang="es-ES" sz="1600" dirty="0" err="1">
                <a:latin typeface="Gill Sans MT" panose="020B0502020104020203" pitchFamily="34" charset="0"/>
              </a:rPr>
              <a:t>Endpoint</a:t>
            </a:r>
            <a:r>
              <a:rPr lang="es-ES" sz="1600" dirty="0">
                <a:latin typeface="Gill Sans MT" panose="020B0502020104020203" pitchFamily="34" charset="0"/>
              </a:rPr>
              <a:t> de Recepción de Datos (/</a:t>
            </a:r>
            <a:r>
              <a:rPr lang="es-ES" sz="1600" dirty="0" err="1">
                <a:latin typeface="Gill Sans MT" panose="020B0502020104020203" pitchFamily="34" charset="0"/>
              </a:rPr>
              <a:t>upload</a:t>
            </a:r>
            <a:endParaRPr lang="es-ES" sz="1600" dirty="0">
              <a:latin typeface="Gill Sans MT" panose="020B0502020104020203" pitchFamily="34" charset="0"/>
            </a:endParaRPr>
          </a:p>
          <a:p>
            <a:pPr marL="342900" indent="-342900">
              <a:buAutoNum type="arabicPeriod"/>
            </a:pPr>
            <a:r>
              <a:rPr lang="es-ES" sz="1600" dirty="0">
                <a:latin typeface="Gill Sans MT" panose="020B0502020104020203" pitchFamily="34" charset="0"/>
              </a:rPr>
              <a:t>Integración con el Motor de </a:t>
            </a:r>
          </a:p>
          <a:p>
            <a:pPr marL="342900" indent="-342900">
              <a:buAutoNum type="arabicPeriod"/>
            </a:pPr>
            <a:r>
              <a:rPr lang="es-ES" sz="1600" dirty="0" err="1">
                <a:latin typeface="Gill Sans MT" panose="020B0502020104020203" pitchFamily="34" charset="0"/>
              </a:rPr>
              <a:t>Serialización</a:t>
            </a:r>
            <a:r>
              <a:rPr lang="es-ES" sz="1600" dirty="0">
                <a:latin typeface="Gill Sans MT" panose="020B0502020104020203" pitchFamily="34" charset="0"/>
              </a:rPr>
              <a:t> de Respuesta (JSON)</a:t>
            </a:r>
          </a:p>
          <a:p>
            <a:pPr>
              <a:spcBef>
                <a:spcPts val="600"/>
              </a:spcBef>
            </a:pPr>
            <a:r>
              <a:rPr lang="es-ES" sz="1600" dirty="0">
                <a:solidFill>
                  <a:srgbClr val="0070C0"/>
                </a:solidFill>
                <a:latin typeface="Gill Sans MT" panose="020B0502020104020203" pitchFamily="34" charset="0"/>
              </a:rPr>
              <a:t>	                          </a:t>
            </a:r>
            <a:r>
              <a:rPr lang="es-ES" sz="1400" dirty="0">
                <a:solidFill>
                  <a:srgbClr val="0070C0"/>
                </a:solidFill>
                <a:latin typeface="Gill Sans MT" panose="020B0502020104020203" pitchFamily="34" charset="0"/>
              </a:rPr>
              <a:t>URL pública lista para recibir peticiones</a:t>
            </a:r>
          </a:p>
        </p:txBody>
      </p:sp>
    </p:spTree>
    <p:extLst>
      <p:ext uri="{BB962C8B-B14F-4D97-AF65-F5344CB8AC3E}">
        <p14:creationId xmlns:p14="http://schemas.microsoft.com/office/powerpoint/2010/main" val="829336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9CA65-DFE5-910E-0B92-E505EFD4E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ítulo 1">
            <a:extLst>
              <a:ext uri="{FF2B5EF4-FFF2-40B4-BE49-F238E27FC236}">
                <a16:creationId xmlns:a16="http://schemas.microsoft.com/office/drawing/2014/main" id="{1EBC07BF-C8F4-FE0F-FDA8-D83CDA467A54}"/>
              </a:ext>
            </a:extLst>
          </p:cNvPr>
          <p:cNvSpPr txBox="1">
            <a:spLocks/>
          </p:cNvSpPr>
          <p:nvPr/>
        </p:nvSpPr>
        <p:spPr>
          <a:xfrm>
            <a:off x="990600" y="462616"/>
            <a:ext cx="10515600" cy="66827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1" i="0" u="none" strike="noStrike" kern="1200" cap="all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Gill Sans MT" panose="020B0502020104020203"/>
                <a:ea typeface="+mj-ea"/>
                <a:cs typeface="+mj-cs"/>
              </a:rPr>
              <a:t>Sistema de Object Detection / clasificación multi-etiqueta </a:t>
            </a:r>
            <a:br>
              <a:rPr kumimoji="0" lang="es-ES" sz="2000" b="1" i="0" u="none" strike="noStrike" kern="1200" cap="all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Gill Sans MT" panose="020B0502020104020203"/>
                <a:ea typeface="+mj-ea"/>
                <a:cs typeface="+mj-cs"/>
              </a:rPr>
            </a:br>
            <a:endParaRPr kumimoji="0" lang="es-ES" sz="1600" b="1" i="0" u="none" strike="noStrike" kern="1200" cap="all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Gill Sans MT" panose="020B0502020104020203"/>
              <a:ea typeface="+mj-ea"/>
              <a:cs typeface="+mj-c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F019000-744C-2733-24F0-9FC1A91EC297}"/>
              </a:ext>
            </a:extLst>
          </p:cNvPr>
          <p:cNvSpPr txBox="1"/>
          <p:nvPr/>
        </p:nvSpPr>
        <p:spPr>
          <a:xfrm>
            <a:off x="540991" y="1449321"/>
            <a:ext cx="5487689" cy="504753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0070C0"/>
                </a:solidFill>
                <a:latin typeface="Gill Sans MT" panose="020B0502020104020203" pitchFamily="34" charset="0"/>
              </a:rPr>
              <a:t>Script de entrenamiento de modelo:</a:t>
            </a:r>
          </a:p>
          <a:p>
            <a:r>
              <a:rPr lang="es-ES" sz="1400" i="1" dirty="0">
                <a:solidFill>
                  <a:srgbClr val="0070C0"/>
                </a:solidFill>
                <a:latin typeface="Gill Sans MT" panose="020B0502020104020203" pitchFamily="34" charset="0"/>
              </a:rPr>
              <a:t>(modelo_computervision_yolov8.ipynb)</a:t>
            </a:r>
            <a:endParaRPr lang="es-ES" i="1" dirty="0">
              <a:solidFill>
                <a:srgbClr val="0070C0"/>
              </a:solidFill>
              <a:latin typeface="Gill Sans MT" panose="020B0502020104020203" pitchFamily="34" charset="0"/>
            </a:endParaRPr>
          </a:p>
          <a:p>
            <a:pPr>
              <a:spcBef>
                <a:spcPts val="600"/>
              </a:spcBef>
            </a:pPr>
            <a:r>
              <a:rPr lang="es-ES" dirty="0">
                <a:latin typeface="Gill Sans MT" panose="020B0502020104020203" pitchFamily="34" charset="0"/>
              </a:rPr>
              <a:t>Automatiza el aprendizaje del modelo a partir del </a:t>
            </a:r>
            <a:r>
              <a:rPr lang="es-ES" dirty="0" err="1">
                <a:latin typeface="Gill Sans MT" panose="020B0502020104020203" pitchFamily="34" charset="0"/>
              </a:rPr>
              <a:t>dataset</a:t>
            </a:r>
            <a:r>
              <a:rPr lang="es-ES" dirty="0">
                <a:latin typeface="Gill Sans MT" panose="020B0502020104020203" pitchFamily="34" charset="0"/>
              </a:rPr>
              <a:t> generado en las fases anteriores.</a:t>
            </a:r>
          </a:p>
          <a:p>
            <a:pPr>
              <a:spcBef>
                <a:spcPts val="600"/>
              </a:spcBef>
            </a:pPr>
            <a:r>
              <a:rPr lang="es-ES" dirty="0">
                <a:latin typeface="Gill Sans MT" panose="020B0502020104020203" pitchFamily="34" charset="0"/>
              </a:rPr>
              <a:t>Actividades:</a:t>
            </a:r>
          </a:p>
          <a:p>
            <a:pPr marL="342900" indent="-342900">
              <a:spcBef>
                <a:spcPts val="600"/>
              </a:spcBef>
              <a:buAutoNum type="arabicPeriod"/>
            </a:pPr>
            <a:r>
              <a:rPr lang="es-ES" dirty="0">
                <a:latin typeface="Gill Sans MT" panose="020B0502020104020203" pitchFamily="34" charset="0"/>
              </a:rPr>
              <a:t>Segmentación del </a:t>
            </a:r>
            <a:r>
              <a:rPr lang="es-ES" dirty="0" err="1">
                <a:latin typeface="Gill Sans MT" panose="020B0502020104020203" pitchFamily="34" charset="0"/>
              </a:rPr>
              <a:t>Dataset</a:t>
            </a:r>
            <a:r>
              <a:rPr lang="es-ES" dirty="0">
                <a:latin typeface="Gill Sans MT" panose="020B0502020104020203" pitchFamily="34" charset="0"/>
              </a:rPr>
              <a:t> (Data </a:t>
            </a:r>
            <a:r>
              <a:rPr lang="es-ES" dirty="0" err="1">
                <a:latin typeface="Gill Sans MT" panose="020B0502020104020203" pitchFamily="34" charset="0"/>
              </a:rPr>
              <a:t>Splitting</a:t>
            </a:r>
            <a:r>
              <a:rPr lang="es-ES" dirty="0">
                <a:latin typeface="Gill Sans MT" panose="020B0502020104020203" pitchFamily="34" charset="0"/>
              </a:rPr>
              <a:t>): Entrenamiento ($80\%) y Validación ($20\%$).</a:t>
            </a:r>
          </a:p>
          <a:p>
            <a:pPr marL="342900" indent="-342900">
              <a:spcBef>
                <a:spcPts val="600"/>
              </a:spcBef>
              <a:buAutoNum type="arabicPeriod"/>
            </a:pPr>
            <a:r>
              <a:rPr lang="es-ES" dirty="0">
                <a:latin typeface="Gill Sans MT" panose="020B0502020104020203" pitchFamily="34" charset="0"/>
              </a:rPr>
              <a:t>Inicialización de Pesos (Transfer </a:t>
            </a:r>
            <a:r>
              <a:rPr lang="es-ES" dirty="0" err="1">
                <a:latin typeface="Gill Sans MT" panose="020B0502020104020203" pitchFamily="34" charset="0"/>
              </a:rPr>
              <a:t>Learning</a:t>
            </a:r>
            <a:r>
              <a:rPr lang="es-ES" dirty="0">
                <a:latin typeface="Gill Sans MT" panose="020B0502020104020203" pitchFamily="34" charset="0"/>
              </a:rPr>
              <a:t>):Uso de un modelo pre-entrenado (yolov8n-cls) </a:t>
            </a:r>
          </a:p>
          <a:p>
            <a:pPr marL="342900" indent="-342900">
              <a:spcBef>
                <a:spcPts val="600"/>
              </a:spcBef>
              <a:buAutoNum type="arabicPeriod"/>
            </a:pPr>
            <a:r>
              <a:rPr lang="es-ES" dirty="0">
                <a:latin typeface="Gill Sans MT" panose="020B0502020104020203" pitchFamily="34" charset="0"/>
              </a:rPr>
              <a:t>Configuración de </a:t>
            </a:r>
            <a:r>
              <a:rPr lang="es-ES" dirty="0" err="1">
                <a:latin typeface="Gill Sans MT" panose="020B0502020104020203" pitchFamily="34" charset="0"/>
              </a:rPr>
              <a:t>Hiperparámetros</a:t>
            </a:r>
            <a:r>
              <a:rPr lang="es-ES" dirty="0">
                <a:latin typeface="Gill Sans MT" panose="020B0502020104020203" pitchFamily="34" charset="0"/>
              </a:rPr>
              <a:t>: Definición de épocas, tamaño de imagen y tamaño de lote (</a:t>
            </a:r>
            <a:r>
              <a:rPr lang="es-ES" dirty="0" err="1">
                <a:latin typeface="Gill Sans MT" panose="020B0502020104020203" pitchFamily="34" charset="0"/>
              </a:rPr>
              <a:t>batch</a:t>
            </a:r>
            <a:r>
              <a:rPr lang="es-ES" dirty="0">
                <a:latin typeface="Gill Sans MT" panose="020B0502020104020203" pitchFamily="34" charset="0"/>
              </a:rPr>
              <a:t> </a:t>
            </a:r>
            <a:r>
              <a:rPr lang="es-ES" dirty="0" err="1">
                <a:latin typeface="Gill Sans MT" panose="020B0502020104020203" pitchFamily="34" charset="0"/>
              </a:rPr>
              <a:t>size</a:t>
            </a:r>
            <a:r>
              <a:rPr lang="es-ES" dirty="0">
                <a:latin typeface="Gill Sans MT" panose="020B0502020104020203" pitchFamily="34" charset="0"/>
              </a:rPr>
              <a:t>) para optimizar el consumo de recursos.</a:t>
            </a:r>
          </a:p>
          <a:p>
            <a:pPr marL="342900" indent="-342900">
              <a:spcBef>
                <a:spcPts val="600"/>
              </a:spcBef>
              <a:buAutoNum type="arabicPeriod"/>
            </a:pPr>
            <a:r>
              <a:rPr lang="es-ES" dirty="0">
                <a:latin typeface="Gill Sans MT" panose="020B0502020104020203" pitchFamily="34" charset="0"/>
              </a:rPr>
              <a:t>Proceso de Entrenamiento: </a:t>
            </a:r>
          </a:p>
          <a:p>
            <a:pPr marL="342900" indent="-342900">
              <a:spcBef>
                <a:spcPts val="600"/>
              </a:spcBef>
              <a:buAutoNum type="arabicPeriod"/>
            </a:pPr>
            <a:r>
              <a:rPr lang="es-ES" dirty="0">
                <a:latin typeface="Gill Sans MT" panose="020B0502020104020203" pitchFamily="34" charset="0"/>
              </a:rPr>
              <a:t>Generación de Pesos Locales (.pt): Exportación del modelo entrenado (best.pt) </a:t>
            </a:r>
          </a:p>
          <a:p>
            <a:pPr>
              <a:spcBef>
                <a:spcPts val="600"/>
              </a:spcBef>
            </a:pPr>
            <a:r>
              <a:rPr lang="es-ES" sz="1600" dirty="0">
                <a:solidFill>
                  <a:srgbClr val="0070C0"/>
                </a:solidFill>
                <a:latin typeface="Gill Sans MT" panose="020B0502020104020203" pitchFamily="34" charset="0"/>
              </a:rPr>
              <a:t>		                        </a:t>
            </a:r>
            <a:r>
              <a:rPr lang="es-ES" sz="1400" dirty="0">
                <a:solidFill>
                  <a:srgbClr val="0070C0"/>
                </a:solidFill>
                <a:latin typeface="Gill Sans MT" panose="020B0502020104020203" pitchFamily="34" charset="0"/>
              </a:rPr>
              <a:t>modelo entrenado (best.pt)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F019000-744C-2733-24F0-9FC1A91EC297}"/>
              </a:ext>
            </a:extLst>
          </p:cNvPr>
          <p:cNvSpPr txBox="1"/>
          <p:nvPr/>
        </p:nvSpPr>
        <p:spPr>
          <a:xfrm>
            <a:off x="551160" y="1023524"/>
            <a:ext cx="54876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0070C0"/>
                </a:solidFill>
                <a:latin typeface="Gill Sans MT" panose="020B0502020104020203" pitchFamily="34" charset="0"/>
              </a:rPr>
              <a:t>Piezas adicionalmente construidas:</a:t>
            </a:r>
          </a:p>
          <a:p>
            <a:endParaRPr lang="es-ES" dirty="0">
              <a:latin typeface="Gill Sans MT" panose="020B0502020104020203" pitchFamily="34" charset="0"/>
            </a:endParaRPr>
          </a:p>
        </p:txBody>
      </p:sp>
      <p:sp>
        <p:nvSpPr>
          <p:cNvPr id="2" name="Flecha derecha 1"/>
          <p:cNvSpPr/>
          <p:nvPr/>
        </p:nvSpPr>
        <p:spPr>
          <a:xfrm>
            <a:off x="6096000" y="2603500"/>
            <a:ext cx="469900" cy="2057400"/>
          </a:xfrm>
          <a:prstGeom prst="rightArrow">
            <a:avLst>
              <a:gd name="adj1" fmla="val 66049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F019000-744C-2733-24F0-9FC1A91EC297}"/>
              </a:ext>
            </a:extLst>
          </p:cNvPr>
          <p:cNvSpPr txBox="1"/>
          <p:nvPr/>
        </p:nvSpPr>
        <p:spPr>
          <a:xfrm>
            <a:off x="6565900" y="1449321"/>
            <a:ext cx="5487689" cy="424731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0070C0"/>
                </a:solidFill>
                <a:latin typeface="Gill Sans MT" panose="020B0502020104020203" pitchFamily="34" charset="0"/>
              </a:rPr>
              <a:t>Resultados – </a:t>
            </a:r>
          </a:p>
          <a:p>
            <a:r>
              <a:rPr lang="es-ES" sz="1400" dirty="0">
                <a:latin typeface="Gill Sans MT" panose="020B0502020104020203" pitchFamily="34" charset="0"/>
              </a:rPr>
              <a:t>===== MÉTRICAS DE PRECISIÓN =====</a:t>
            </a:r>
          </a:p>
          <a:p>
            <a:r>
              <a:rPr lang="es-ES" sz="1400" dirty="0">
                <a:latin typeface="Gill Sans MT" panose="020B0502020104020203" pitchFamily="34" charset="0"/>
              </a:rPr>
              <a:t>Precisión Top-1 (Exactitud): 68.76%</a:t>
            </a:r>
          </a:p>
          <a:p>
            <a:r>
              <a:rPr lang="es-ES" sz="1400" dirty="0">
                <a:latin typeface="Gill Sans MT" panose="020B0502020104020203" pitchFamily="34" charset="0"/>
              </a:rPr>
              <a:t>Precisión Top-5: 96.26%</a:t>
            </a:r>
          </a:p>
          <a:p>
            <a:endParaRPr lang="es-ES" sz="1400" dirty="0">
              <a:latin typeface="Gill Sans MT" panose="020B0502020104020203" pitchFamily="34" charset="0"/>
            </a:endParaRPr>
          </a:p>
          <a:p>
            <a:r>
              <a:rPr lang="es-ES" sz="1400" dirty="0">
                <a:latin typeface="Gill Sans MT" panose="020B0502020104020203" pitchFamily="34" charset="0"/>
              </a:rPr>
              <a:t>===== MÉTRICAS DE LATENCIA (INFERENCIA) =====</a:t>
            </a:r>
          </a:p>
          <a:p>
            <a:r>
              <a:rPr lang="es-ES" sz="1400" dirty="0" err="1">
                <a:latin typeface="Gill Sans MT" panose="020B0502020104020203" pitchFamily="34" charset="0"/>
              </a:rPr>
              <a:t>Pre-procesado</a:t>
            </a:r>
            <a:r>
              <a:rPr lang="es-ES" sz="1400" dirty="0">
                <a:latin typeface="Gill Sans MT" panose="020B0502020104020203" pitchFamily="34" charset="0"/>
              </a:rPr>
              <a:t>: 0.82 ms</a:t>
            </a:r>
          </a:p>
          <a:p>
            <a:r>
              <a:rPr lang="es-ES" sz="1400" dirty="0">
                <a:latin typeface="Gill Sans MT" panose="020B0502020104020203" pitchFamily="34" charset="0"/>
              </a:rPr>
              <a:t>Inferencia (IA): 2.40 ms</a:t>
            </a:r>
          </a:p>
          <a:p>
            <a:r>
              <a:rPr lang="es-ES" sz="1400" dirty="0" err="1">
                <a:latin typeface="Gill Sans MT" panose="020B0502020104020203" pitchFamily="34" charset="0"/>
              </a:rPr>
              <a:t>Post-procesado</a:t>
            </a:r>
            <a:r>
              <a:rPr lang="es-ES" sz="1400" dirty="0">
                <a:latin typeface="Gill Sans MT" panose="020B0502020104020203" pitchFamily="34" charset="0"/>
              </a:rPr>
              <a:t>: 0.00 ms</a:t>
            </a:r>
          </a:p>
          <a:p>
            <a:r>
              <a:rPr lang="es-ES" sz="1400" dirty="0">
                <a:latin typeface="Gill Sans MT" panose="020B0502020104020203" pitchFamily="34" charset="0"/>
              </a:rPr>
              <a:t>TIEMPO TOTAL: 3.23 ms por imagen</a:t>
            </a:r>
          </a:p>
          <a:p>
            <a:endParaRPr lang="es-ES" sz="1400" dirty="0">
              <a:solidFill>
                <a:srgbClr val="0070C0"/>
              </a:solidFill>
              <a:latin typeface="Gill Sans MT" panose="020B0502020104020203" pitchFamily="34" charset="0"/>
            </a:endParaRPr>
          </a:p>
          <a:p>
            <a:r>
              <a:rPr lang="es-ES" sz="1400" dirty="0">
                <a:solidFill>
                  <a:srgbClr val="0070C0"/>
                </a:solidFill>
                <a:latin typeface="Gill Sans MT" panose="020B0502020104020203" pitchFamily="34" charset="0"/>
              </a:rPr>
              <a:t>Conclusiones:</a:t>
            </a:r>
            <a:br>
              <a:rPr lang="es-ES" sz="1400" dirty="0">
                <a:solidFill>
                  <a:srgbClr val="0070C0"/>
                </a:solidFill>
                <a:latin typeface="Gill Sans MT" panose="020B0502020104020203" pitchFamily="34" charset="0"/>
              </a:rPr>
            </a:br>
            <a:r>
              <a:rPr lang="es-ES" sz="1400" dirty="0">
                <a:latin typeface="Gill Sans MT" panose="020B0502020104020203" pitchFamily="34" charset="0"/>
              </a:rPr>
              <a:t>Aparentemente bueno, pero se trata de un </a:t>
            </a:r>
            <a:r>
              <a:rPr lang="es-ES" sz="1400" b="1" dirty="0">
                <a:latin typeface="Gill Sans MT" panose="020B0502020104020203" pitchFamily="34" charset="0"/>
              </a:rPr>
              <a:t>modelo de clasificación</a:t>
            </a:r>
            <a:r>
              <a:rPr lang="es-ES" sz="1400" dirty="0">
                <a:latin typeface="Gill Sans MT" panose="020B0502020104020203" pitchFamily="34" charset="0"/>
              </a:rPr>
              <a:t>.</a:t>
            </a:r>
          </a:p>
          <a:p>
            <a:r>
              <a:rPr lang="es-ES" sz="1400" dirty="0">
                <a:latin typeface="Gill Sans MT" panose="020B0502020104020203" pitchFamily="34" charset="0"/>
              </a:rPr>
              <a:t>En las pruebas se ha visto que no ha detectado adecuadamente los elementos de una </a:t>
            </a:r>
            <a:r>
              <a:rPr lang="es-ES" sz="1400" dirty="0" err="1">
                <a:latin typeface="Gill Sans MT" panose="020B0502020104020203" pitchFamily="34" charset="0"/>
              </a:rPr>
              <a:t>navera</a:t>
            </a:r>
            <a:r>
              <a:rPr lang="es-ES" sz="1400" dirty="0">
                <a:latin typeface="Gill Sans MT" panose="020B0502020104020203" pitchFamily="34" charset="0"/>
              </a:rPr>
              <a:t> vacía.</a:t>
            </a:r>
          </a:p>
          <a:p>
            <a:r>
              <a:rPr lang="es-ES" sz="1400" dirty="0">
                <a:latin typeface="Gill Sans MT" panose="020B0502020104020203" pitchFamily="34" charset="0"/>
              </a:rPr>
              <a:t>No arroja falsos positivos.</a:t>
            </a:r>
          </a:p>
          <a:p>
            <a:endParaRPr lang="es-ES" sz="1400" dirty="0">
              <a:latin typeface="Gill Sans MT" panose="020B0502020104020203" pitchFamily="34" charset="0"/>
            </a:endParaRPr>
          </a:p>
          <a:p>
            <a:r>
              <a:rPr lang="es-ES" sz="1400" dirty="0">
                <a:latin typeface="Gill Sans MT" panose="020B0502020104020203" pitchFamily="34" charset="0"/>
              </a:rPr>
              <a:t>Se tendría que continuar entrenando imágenes con coordenadas tipo </a:t>
            </a:r>
            <a:r>
              <a:rPr lang="es-ES" sz="1400" dirty="0" err="1">
                <a:latin typeface="Gill Sans MT" panose="020B0502020104020203" pitchFamily="34" charset="0"/>
              </a:rPr>
              <a:t>roboflow</a:t>
            </a:r>
            <a:r>
              <a:rPr lang="es-ES" sz="1400" dirty="0">
                <a:latin typeface="Gill Sans MT" panose="020B0502020104020203" pitchFamily="34" charset="0"/>
              </a:rPr>
              <a:t>, buscando un </a:t>
            </a:r>
            <a:r>
              <a:rPr lang="es-ES" sz="1400" b="1" dirty="0">
                <a:latin typeface="Gill Sans MT" panose="020B0502020104020203" pitchFamily="34" charset="0"/>
              </a:rPr>
              <a:t>modelo de detección</a:t>
            </a:r>
            <a:r>
              <a:rPr lang="es-ES" sz="1400" dirty="0">
                <a:latin typeface="Gill Sans MT" panose="020B05020201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95015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9CA65-DFE5-910E-0B92-E505EFD4E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ítulo 1">
            <a:extLst>
              <a:ext uri="{FF2B5EF4-FFF2-40B4-BE49-F238E27FC236}">
                <a16:creationId xmlns:a16="http://schemas.microsoft.com/office/drawing/2014/main" id="{1EBC07BF-C8F4-FE0F-FDA8-D83CDA467A54}"/>
              </a:ext>
            </a:extLst>
          </p:cNvPr>
          <p:cNvSpPr txBox="1">
            <a:spLocks/>
          </p:cNvSpPr>
          <p:nvPr/>
        </p:nvSpPr>
        <p:spPr>
          <a:xfrm>
            <a:off x="990600" y="462616"/>
            <a:ext cx="10515600" cy="66827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1" i="0" u="none" strike="noStrike" kern="1200" cap="all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Gill Sans MT" panose="020B0502020104020203"/>
                <a:ea typeface="+mj-ea"/>
                <a:cs typeface="+mj-cs"/>
              </a:rPr>
              <a:t>Sistema de Object Detection / clasificación multi-etiqueta </a:t>
            </a:r>
            <a:br>
              <a:rPr kumimoji="0" lang="es-ES" sz="2000" b="1" i="0" u="none" strike="noStrike" kern="1200" cap="all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Gill Sans MT" panose="020B0502020104020203"/>
                <a:ea typeface="+mj-ea"/>
                <a:cs typeface="+mj-cs"/>
              </a:rPr>
            </a:br>
            <a:endParaRPr kumimoji="0" lang="es-ES" sz="1600" b="1" i="0" u="none" strike="noStrike" kern="1200" cap="all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Gill Sans MT" panose="020B0502020104020203"/>
              <a:ea typeface="+mj-ea"/>
              <a:cs typeface="+mj-cs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F019000-744C-2733-24F0-9FC1A91EC297}"/>
              </a:ext>
            </a:extLst>
          </p:cNvPr>
          <p:cNvSpPr txBox="1"/>
          <p:nvPr/>
        </p:nvSpPr>
        <p:spPr>
          <a:xfrm>
            <a:off x="551160" y="1023524"/>
            <a:ext cx="54876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0070C0"/>
                </a:solidFill>
                <a:latin typeface="Gill Sans MT" panose="020B0502020104020203" pitchFamily="34" charset="0"/>
              </a:rPr>
              <a:t>JSON de IA:</a:t>
            </a:r>
          </a:p>
          <a:p>
            <a:endParaRPr lang="es-ES" dirty="0">
              <a:latin typeface="Gill Sans MT" panose="020B0502020104020203" pitchFamily="34" charset="0"/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551160" y="1691795"/>
            <a:ext cx="592584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200" dirty="0">
                <a:solidFill>
                  <a:srgbClr val="1F1F1F"/>
                </a:solidFill>
                <a:latin typeface="Courier New" panose="02070309020205020404" pitchFamily="49" charset="0"/>
              </a:rPr>
              <a:t>--- ANÁLISIS COMPLETADO ---</a:t>
            </a:r>
          </a:p>
          <a:p>
            <a:r>
              <a:rPr lang="es-ES" sz="1200" dirty="0">
                <a:solidFill>
                  <a:srgbClr val="1F1F1F"/>
                </a:solidFill>
                <a:latin typeface="Courier New" panose="02070309020205020404" pitchFamily="49" charset="0"/>
              </a:rPr>
              <a:t>{</a:t>
            </a:r>
          </a:p>
          <a:p>
            <a:r>
              <a:rPr lang="es-ES" sz="1200" dirty="0">
                <a:solidFill>
                  <a:srgbClr val="1F1F1F"/>
                </a:solidFill>
                <a:latin typeface="Courier New" panose="02070309020205020404" pitchFamily="49" charset="0"/>
              </a:rPr>
              <a:t>"</a:t>
            </a:r>
            <a:r>
              <a:rPr lang="es-ES" sz="1200" dirty="0" err="1">
                <a:solidFill>
                  <a:srgbClr val="1F1F1F"/>
                </a:solidFill>
                <a:latin typeface="Courier New" panose="02070309020205020404" pitchFamily="49" charset="0"/>
              </a:rPr>
              <a:t>ingredientes_individuales</a:t>
            </a:r>
            <a:r>
              <a:rPr lang="es-ES" sz="1200" dirty="0">
                <a:solidFill>
                  <a:srgbClr val="1F1F1F"/>
                </a:solidFill>
                <a:latin typeface="Courier New" panose="02070309020205020404" pitchFamily="49" charset="0"/>
              </a:rPr>
              <a:t>": [</a:t>
            </a:r>
          </a:p>
          <a:p>
            <a:r>
              <a:rPr lang="es-ES" sz="1200" dirty="0">
                <a:solidFill>
                  <a:srgbClr val="1F1F1F"/>
                </a:solidFill>
                <a:latin typeface="Courier New" panose="02070309020205020404" pitchFamily="49" charset="0"/>
              </a:rPr>
              <a:t>    {</a:t>
            </a:r>
          </a:p>
          <a:p>
            <a:r>
              <a:rPr lang="es-ES" sz="1200" dirty="0">
                <a:solidFill>
                  <a:srgbClr val="1F1F1F"/>
                </a:solidFill>
                <a:latin typeface="Courier New" panose="02070309020205020404" pitchFamily="49" charset="0"/>
              </a:rPr>
              <a:t>      "nombre": "Limones",</a:t>
            </a:r>
          </a:p>
          <a:p>
            <a:r>
              <a:rPr lang="es-ES" sz="1200" dirty="0">
                <a:solidFill>
                  <a:srgbClr val="1F1F1F"/>
                </a:solidFill>
                <a:latin typeface="Courier New" panose="02070309020205020404" pitchFamily="49" charset="0"/>
              </a:rPr>
              <a:t>      "marca": </a:t>
            </a:r>
            <a:r>
              <a:rPr lang="es-ES" sz="1200" dirty="0" err="1">
                <a:solidFill>
                  <a:srgbClr val="1F1F1F"/>
                </a:solidFill>
                <a:latin typeface="Courier New" panose="02070309020205020404" pitchFamily="49" charset="0"/>
              </a:rPr>
              <a:t>null</a:t>
            </a:r>
            <a:r>
              <a:rPr lang="es-ES" sz="1200" dirty="0">
                <a:solidFill>
                  <a:srgbClr val="1F1F1F"/>
                </a:solidFill>
                <a:latin typeface="Courier New" panose="02070309020205020404" pitchFamily="49" charset="0"/>
              </a:rPr>
              <a:t>,</a:t>
            </a:r>
          </a:p>
          <a:p>
            <a:r>
              <a:rPr lang="es-ES" sz="1200" dirty="0">
                <a:solidFill>
                  <a:srgbClr val="1F1F1F"/>
                </a:solidFill>
                <a:latin typeface="Courier New" panose="02070309020205020404" pitchFamily="49" charset="0"/>
              </a:rPr>
              <a:t>      "</a:t>
            </a:r>
            <a:r>
              <a:rPr lang="es-ES" sz="1200" dirty="0" err="1">
                <a:solidFill>
                  <a:srgbClr val="1F1F1F"/>
                </a:solidFill>
                <a:latin typeface="Courier New" panose="02070309020205020404" pitchFamily="49" charset="0"/>
              </a:rPr>
              <a:t>cantidad_estimada</a:t>
            </a:r>
            <a:r>
              <a:rPr lang="es-ES" sz="1200" dirty="0">
                <a:solidFill>
                  <a:srgbClr val="1F1F1F"/>
                </a:solidFill>
                <a:latin typeface="Courier New" panose="02070309020205020404" pitchFamily="49" charset="0"/>
              </a:rPr>
              <a:t>": "15 unidades aprox.",</a:t>
            </a:r>
          </a:p>
          <a:p>
            <a:r>
              <a:rPr lang="es-ES" sz="1200" dirty="0">
                <a:solidFill>
                  <a:srgbClr val="1F1F1F"/>
                </a:solidFill>
                <a:latin typeface="Courier New" panose="02070309020205020404" pitchFamily="49" charset="0"/>
              </a:rPr>
              <a:t>      "</a:t>
            </a:r>
            <a:r>
              <a:rPr lang="es-ES" sz="1200" dirty="0" err="1">
                <a:solidFill>
                  <a:srgbClr val="1F1F1F"/>
                </a:solidFill>
                <a:latin typeface="Courier New" panose="02070309020205020404" pitchFamily="49" charset="0"/>
              </a:rPr>
              <a:t>estado_preparacion</a:t>
            </a:r>
            <a:r>
              <a:rPr lang="es-ES" sz="1200" dirty="0">
                <a:solidFill>
                  <a:srgbClr val="1F1F1F"/>
                </a:solidFill>
                <a:latin typeface="Courier New" panose="02070309020205020404" pitchFamily="49" charset="0"/>
              </a:rPr>
              <a:t>": "fresco",</a:t>
            </a:r>
          </a:p>
          <a:p>
            <a:r>
              <a:rPr lang="es-ES" sz="1200" dirty="0">
                <a:solidFill>
                  <a:srgbClr val="1F1F1F"/>
                </a:solidFill>
                <a:latin typeface="Courier New" panose="02070309020205020404" pitchFamily="49" charset="0"/>
              </a:rPr>
              <a:t>      "box_2d": [204, 0, 513, 196],</a:t>
            </a:r>
          </a:p>
          <a:p>
            <a:r>
              <a:rPr lang="es-ES" sz="1200" dirty="0">
                <a:solidFill>
                  <a:srgbClr val="1F1F1F"/>
                </a:solidFill>
                <a:latin typeface="Courier New" panose="02070309020205020404" pitchFamily="49" charset="0"/>
              </a:rPr>
              <a:t>      "confianza": "0.90"</a:t>
            </a:r>
          </a:p>
          <a:p>
            <a:r>
              <a:rPr lang="es-ES" sz="1200" dirty="0">
                <a:solidFill>
                  <a:srgbClr val="1F1F1F"/>
                </a:solidFill>
                <a:latin typeface="Courier New" panose="02070309020205020404" pitchFamily="49" charset="0"/>
              </a:rPr>
              <a:t>    },</a:t>
            </a:r>
          </a:p>
          <a:p>
            <a:r>
              <a:rPr lang="es-ES" sz="1200" dirty="0">
                <a:solidFill>
                  <a:srgbClr val="1F1F1F"/>
                </a:solidFill>
                <a:latin typeface="Courier New" panose="02070309020205020404" pitchFamily="49" charset="0"/>
              </a:rPr>
              <a:t>    {</a:t>
            </a:r>
          </a:p>
          <a:p>
            <a:r>
              <a:rPr lang="es-ES" sz="1200" dirty="0">
                <a:solidFill>
                  <a:srgbClr val="1F1F1F"/>
                </a:solidFill>
                <a:latin typeface="Courier New" panose="02070309020205020404" pitchFamily="49" charset="0"/>
              </a:rPr>
              <a:t>      "nombre": "Bebida naranja",</a:t>
            </a:r>
          </a:p>
          <a:p>
            <a:r>
              <a:rPr lang="es-ES" sz="1200" dirty="0">
                <a:solidFill>
                  <a:srgbClr val="1F1F1F"/>
                </a:solidFill>
                <a:latin typeface="Courier New" panose="02070309020205020404" pitchFamily="49" charset="0"/>
              </a:rPr>
              <a:t>      "marca": </a:t>
            </a:r>
            <a:r>
              <a:rPr lang="es-ES" sz="1200" dirty="0" err="1">
                <a:solidFill>
                  <a:srgbClr val="1F1F1F"/>
                </a:solidFill>
                <a:latin typeface="Courier New" panose="02070309020205020404" pitchFamily="49" charset="0"/>
              </a:rPr>
              <a:t>null</a:t>
            </a:r>
            <a:r>
              <a:rPr lang="es-ES" sz="1200" dirty="0">
                <a:solidFill>
                  <a:srgbClr val="1F1F1F"/>
                </a:solidFill>
                <a:latin typeface="Courier New" panose="02070309020205020404" pitchFamily="49" charset="0"/>
              </a:rPr>
              <a:t>,</a:t>
            </a:r>
          </a:p>
          <a:p>
            <a:r>
              <a:rPr lang="es-ES" sz="1200" dirty="0">
                <a:solidFill>
                  <a:srgbClr val="1F1F1F"/>
                </a:solidFill>
                <a:latin typeface="Courier New" panose="02070309020205020404" pitchFamily="49" charset="0"/>
              </a:rPr>
              <a:t>      "</a:t>
            </a:r>
            <a:r>
              <a:rPr lang="es-ES" sz="1200" dirty="0" err="1">
                <a:solidFill>
                  <a:srgbClr val="1F1F1F"/>
                </a:solidFill>
                <a:latin typeface="Courier New" panose="02070309020205020404" pitchFamily="49" charset="0"/>
              </a:rPr>
              <a:t>cantidad_estimada</a:t>
            </a:r>
            <a:r>
              <a:rPr lang="es-ES" sz="1200" dirty="0">
                <a:solidFill>
                  <a:srgbClr val="1F1F1F"/>
                </a:solidFill>
                <a:latin typeface="Courier New" panose="02070309020205020404" pitchFamily="49" charset="0"/>
              </a:rPr>
              <a:t>": "2 botellas",</a:t>
            </a:r>
          </a:p>
          <a:p>
            <a:r>
              <a:rPr lang="es-ES" sz="1200" dirty="0">
                <a:solidFill>
                  <a:srgbClr val="1F1F1F"/>
                </a:solidFill>
                <a:latin typeface="Courier New" panose="02070309020205020404" pitchFamily="49" charset="0"/>
              </a:rPr>
              <a:t>      "</a:t>
            </a:r>
            <a:r>
              <a:rPr lang="es-ES" sz="1200" dirty="0" err="1">
                <a:solidFill>
                  <a:srgbClr val="1F1F1F"/>
                </a:solidFill>
                <a:latin typeface="Courier New" panose="02070309020205020404" pitchFamily="49" charset="0"/>
              </a:rPr>
              <a:t>estado_preparacion</a:t>
            </a:r>
            <a:r>
              <a:rPr lang="es-ES" sz="1200" dirty="0">
                <a:solidFill>
                  <a:srgbClr val="1F1F1F"/>
                </a:solidFill>
                <a:latin typeface="Courier New" panose="02070309020205020404" pitchFamily="49" charset="0"/>
              </a:rPr>
              <a:t>": "envasado",</a:t>
            </a:r>
          </a:p>
          <a:p>
            <a:r>
              <a:rPr lang="es-ES" sz="1200" dirty="0">
                <a:solidFill>
                  <a:srgbClr val="1F1F1F"/>
                </a:solidFill>
                <a:latin typeface="Courier New" panose="02070309020205020404" pitchFamily="49" charset="0"/>
              </a:rPr>
              <a:t>      "box_2d": [214, 574, 483, 769],</a:t>
            </a:r>
          </a:p>
          <a:p>
            <a:r>
              <a:rPr lang="es-ES" sz="1200" dirty="0">
                <a:solidFill>
                  <a:srgbClr val="1F1F1F"/>
                </a:solidFill>
                <a:latin typeface="Courier New" panose="02070309020205020404" pitchFamily="49" charset="0"/>
              </a:rPr>
              <a:t>      "confianza": "0.85"</a:t>
            </a:r>
          </a:p>
          <a:p>
            <a:r>
              <a:rPr lang="es-ES" sz="1200" dirty="0">
                <a:solidFill>
                  <a:srgbClr val="1F1F1F"/>
                </a:solidFill>
                <a:latin typeface="Courier New" panose="02070309020205020404" pitchFamily="49" charset="0"/>
              </a:rPr>
              <a:t>    }</a:t>
            </a:r>
          </a:p>
          <a:p>
            <a:r>
              <a:rPr lang="es-ES" sz="1200" dirty="0">
                <a:solidFill>
                  <a:srgbClr val="1F1F1F"/>
                </a:solidFill>
                <a:latin typeface="Courier New" panose="02070309020205020404" pitchFamily="49" charset="0"/>
              </a:rPr>
              <a:t>  ],</a:t>
            </a:r>
          </a:p>
          <a:p>
            <a:r>
              <a:rPr lang="es-ES" sz="1200" dirty="0">
                <a:solidFill>
                  <a:srgbClr val="1F1F1F"/>
                </a:solidFill>
                <a:latin typeface="Courier New" panose="02070309020205020404" pitchFamily="49" charset="0"/>
              </a:rPr>
              <a:t>  "</a:t>
            </a:r>
            <a:r>
              <a:rPr lang="es-ES" sz="1200" dirty="0" err="1">
                <a:solidFill>
                  <a:srgbClr val="1F1F1F"/>
                </a:solidFill>
                <a:latin typeface="Courier New" panose="02070309020205020404" pitchFamily="49" charset="0"/>
              </a:rPr>
              <a:t>ingredientes_ingles</a:t>
            </a:r>
            <a:r>
              <a:rPr lang="es-ES" sz="1200" dirty="0">
                <a:solidFill>
                  <a:srgbClr val="1F1F1F"/>
                </a:solidFill>
                <a:latin typeface="Courier New" panose="02070309020205020404" pitchFamily="49" charset="0"/>
              </a:rPr>
              <a:t>": ["</a:t>
            </a:r>
            <a:r>
              <a:rPr lang="es-ES" sz="1200" dirty="0" err="1">
                <a:solidFill>
                  <a:srgbClr val="1F1F1F"/>
                </a:solidFill>
                <a:latin typeface="Courier New" panose="02070309020205020404" pitchFamily="49" charset="0"/>
              </a:rPr>
              <a:t>Lemons</a:t>
            </a:r>
            <a:r>
              <a:rPr lang="es-ES" sz="1200" dirty="0">
                <a:solidFill>
                  <a:srgbClr val="1F1F1F"/>
                </a:solidFill>
                <a:latin typeface="Courier New" panose="02070309020205020404" pitchFamily="49" charset="0"/>
              </a:rPr>
              <a:t>", "Orange </a:t>
            </a:r>
            <a:r>
              <a:rPr lang="es-ES" sz="1200" dirty="0" err="1">
                <a:solidFill>
                  <a:srgbClr val="1F1F1F"/>
                </a:solidFill>
                <a:latin typeface="Courier New" panose="02070309020205020404" pitchFamily="49" charset="0"/>
              </a:rPr>
              <a:t>drink</a:t>
            </a:r>
            <a:r>
              <a:rPr lang="es-ES" sz="1200" dirty="0">
                <a:solidFill>
                  <a:srgbClr val="1F1F1F"/>
                </a:solidFill>
                <a:latin typeface="Courier New" panose="02070309020205020404" pitchFamily="49" charset="0"/>
              </a:rPr>
              <a:t>"],</a:t>
            </a:r>
          </a:p>
          <a:p>
            <a:r>
              <a:rPr lang="es-ES" sz="1200" dirty="0">
                <a:solidFill>
                  <a:srgbClr val="1F1F1F"/>
                </a:solidFill>
                <a:latin typeface="Courier New" panose="02070309020205020404" pitchFamily="49" charset="0"/>
              </a:rPr>
              <a:t>  "</a:t>
            </a:r>
            <a:r>
              <a:rPr lang="es-ES" sz="1200" dirty="0" err="1">
                <a:solidFill>
                  <a:srgbClr val="1F1F1F"/>
                </a:solidFill>
                <a:latin typeface="Courier New" panose="02070309020205020404" pitchFamily="49" charset="0"/>
              </a:rPr>
              <a:t>platos_preparados_o_sobras</a:t>
            </a:r>
            <a:r>
              <a:rPr lang="es-ES" sz="1200" dirty="0">
                <a:solidFill>
                  <a:srgbClr val="1F1F1F"/>
                </a:solidFill>
                <a:latin typeface="Courier New" panose="02070309020205020404" pitchFamily="49" charset="0"/>
              </a:rPr>
              <a:t>": [</a:t>
            </a:r>
          </a:p>
          <a:p>
            <a:r>
              <a:rPr lang="es-ES" sz="1200" dirty="0">
                <a:solidFill>
                  <a:srgbClr val="1F1F1F"/>
                </a:solidFill>
                <a:latin typeface="Courier New" panose="02070309020205020404" pitchFamily="49" charset="0"/>
              </a:rPr>
              <a:t>    {</a:t>
            </a:r>
          </a:p>
          <a:p>
            <a:r>
              <a:rPr lang="es-ES" sz="1200" dirty="0">
                <a:solidFill>
                  <a:srgbClr val="1F1F1F"/>
                </a:solidFill>
                <a:latin typeface="Courier New" panose="02070309020205020404" pitchFamily="49" charset="0"/>
              </a:rPr>
              <a:t>      "</a:t>
            </a:r>
            <a:r>
              <a:rPr lang="es-ES" sz="1200" dirty="0" err="1">
                <a:solidFill>
                  <a:srgbClr val="1F1F1F"/>
                </a:solidFill>
                <a:latin typeface="Courier New" panose="02070309020205020404" pitchFamily="49" charset="0"/>
              </a:rPr>
              <a:t>descripcion</a:t>
            </a:r>
            <a:r>
              <a:rPr lang="es-ES" sz="1200" dirty="0">
                <a:solidFill>
                  <a:srgbClr val="1F1F1F"/>
                </a:solidFill>
                <a:latin typeface="Courier New" panose="02070309020205020404" pitchFamily="49" charset="0"/>
              </a:rPr>
              <a:t>": "Recipiente blanco con dibujo de gallo",</a:t>
            </a:r>
          </a:p>
          <a:p>
            <a:r>
              <a:rPr lang="es-ES" sz="1200" dirty="0">
                <a:solidFill>
                  <a:srgbClr val="1F1F1F"/>
                </a:solidFill>
                <a:latin typeface="Courier New" panose="02070309020205020404" pitchFamily="49" charset="0"/>
              </a:rPr>
              <a:t>      "</a:t>
            </a:r>
            <a:r>
              <a:rPr lang="es-ES" sz="1200" dirty="0" err="1">
                <a:solidFill>
                  <a:srgbClr val="1F1F1F"/>
                </a:solidFill>
                <a:latin typeface="Courier New" panose="02070309020205020404" pitchFamily="49" charset="0"/>
              </a:rPr>
              <a:t>tipo_envase</a:t>
            </a:r>
            <a:r>
              <a:rPr lang="es-ES" sz="1200" dirty="0">
                <a:solidFill>
                  <a:srgbClr val="1F1F1F"/>
                </a:solidFill>
                <a:latin typeface="Courier New" panose="02070309020205020404" pitchFamily="49" charset="0"/>
              </a:rPr>
              <a:t>": "Bol de cerámica"</a:t>
            </a:r>
          </a:p>
          <a:p>
            <a:r>
              <a:rPr lang="es-ES" sz="1200" dirty="0">
                <a:solidFill>
                  <a:srgbClr val="1F1F1F"/>
                </a:solidFill>
                <a:latin typeface="Courier New" panose="02070309020205020404" pitchFamily="49" charset="0"/>
              </a:rPr>
              <a:t>    },</a:t>
            </a:r>
          </a:p>
          <a:p>
            <a:r>
              <a:rPr lang="es-ES" sz="1200" dirty="0">
                <a:solidFill>
                  <a:srgbClr val="1F1F1F"/>
                </a:solidFill>
                <a:latin typeface="Courier New" panose="02070309020205020404" pitchFamily="49" charset="0"/>
              </a:rPr>
              <a:t>    </a:t>
            </a:r>
            <a:endParaRPr lang="es-ES" sz="1200" dirty="0"/>
          </a:p>
        </p:txBody>
      </p:sp>
      <p:sp>
        <p:nvSpPr>
          <p:cNvPr id="7" name="Rectángulo 6"/>
          <p:cNvSpPr/>
          <p:nvPr/>
        </p:nvSpPr>
        <p:spPr>
          <a:xfrm>
            <a:off x="6858000" y="2286000"/>
            <a:ext cx="46482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200" dirty="0"/>
              <a:t>],</a:t>
            </a:r>
          </a:p>
          <a:p>
            <a:r>
              <a:rPr lang="es-ES" sz="1200" dirty="0"/>
              <a:t>  "descartes": [</a:t>
            </a:r>
          </a:p>
          <a:p>
            <a:r>
              <a:rPr lang="es-ES" sz="1200" dirty="0"/>
              <a:t>    {</a:t>
            </a:r>
          </a:p>
          <a:p>
            <a:r>
              <a:rPr lang="es-ES" sz="1200" dirty="0"/>
              <a:t>      "elemento": "Perro (Golden </a:t>
            </a:r>
            <a:r>
              <a:rPr lang="es-ES" sz="1200" dirty="0" err="1"/>
              <a:t>Retriever</a:t>
            </a:r>
            <a:r>
              <a:rPr lang="es-ES" sz="1200" dirty="0"/>
              <a:t>)",</a:t>
            </a:r>
          </a:p>
          <a:p>
            <a:r>
              <a:rPr lang="es-ES" sz="1200" dirty="0"/>
              <a:t>      "motivo": "Animal vivo / Peligro sanitario"</a:t>
            </a:r>
          </a:p>
          <a:p>
            <a:r>
              <a:rPr lang="es-ES" sz="1200" dirty="0"/>
              <a:t>    },</a:t>
            </a:r>
          </a:p>
          <a:p>
            <a:r>
              <a:rPr lang="es-ES" sz="1200" dirty="0"/>
              <a:t>    {</a:t>
            </a:r>
          </a:p>
          <a:p>
            <a:r>
              <a:rPr lang="es-ES" sz="1200" dirty="0"/>
              <a:t>      "elemento": "Zapatos de tacón negros",</a:t>
            </a:r>
          </a:p>
          <a:p>
            <a:r>
              <a:rPr lang="es-ES" sz="1200" dirty="0"/>
              <a:t>      "motivo": "Objeto no comestible / Ropa"</a:t>
            </a:r>
          </a:p>
          <a:p>
            <a:r>
              <a:rPr lang="es-ES" sz="1200" dirty="0"/>
              <a:t>    }</a:t>
            </a:r>
          </a:p>
          <a:p>
            <a:r>
              <a:rPr lang="es-ES" sz="1200" dirty="0"/>
              <a:t>  ],</a:t>
            </a:r>
          </a:p>
          <a:p>
            <a:r>
              <a:rPr lang="es-ES" sz="1200" dirty="0"/>
              <a:t>  "</a:t>
            </a:r>
            <a:r>
              <a:rPr lang="es-ES" sz="1200" dirty="0" err="1"/>
              <a:t>elementos_no_identificables</a:t>
            </a:r>
            <a:r>
              <a:rPr lang="es-ES" sz="1200" dirty="0"/>
              <a:t>": 6</a:t>
            </a:r>
          </a:p>
          <a:p>
            <a:r>
              <a:rPr lang="es-ES" sz="1200" dirty="0"/>
              <a:t>}</a:t>
            </a:r>
          </a:p>
          <a:p>
            <a:r>
              <a:rPr lang="es-ES" sz="1200" dirty="0"/>
              <a:t>```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F019000-744C-2733-24F0-9FC1A91EC297}"/>
              </a:ext>
            </a:extLst>
          </p:cNvPr>
          <p:cNvSpPr txBox="1"/>
          <p:nvPr/>
        </p:nvSpPr>
        <p:spPr>
          <a:xfrm>
            <a:off x="6248400" y="5052751"/>
            <a:ext cx="5487689" cy="155427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0070C0"/>
                </a:solidFill>
                <a:latin typeface="Gill Sans MT" panose="020B0502020104020203" pitchFamily="34" charset="0"/>
              </a:rPr>
              <a:t>Recuperación de información adicional</a:t>
            </a:r>
          </a:p>
          <a:p>
            <a:r>
              <a:rPr lang="es-ES" dirty="0">
                <a:latin typeface="Gill Sans MT" panose="020B0502020104020203" pitchFamily="34" charset="0"/>
              </a:rPr>
              <a:t>Además de los listados de alimentos se recupera información contextual de la nevera que puede ser usado para dar valor añadido al usuario en escenarios futuros.</a:t>
            </a:r>
          </a:p>
          <a:p>
            <a:pPr>
              <a:spcBef>
                <a:spcPts val="600"/>
              </a:spcBef>
            </a:pPr>
            <a:r>
              <a:rPr lang="es-ES" dirty="0">
                <a:solidFill>
                  <a:srgbClr val="0070C0"/>
                </a:solidFill>
                <a:latin typeface="Gill Sans MT" panose="020B0502020104020203" pitchFamily="34" charset="0"/>
              </a:rPr>
              <a:t> 			    </a:t>
            </a:r>
            <a:r>
              <a:rPr lang="es-ES" sz="1400" dirty="0">
                <a:solidFill>
                  <a:srgbClr val="0070C0"/>
                </a:solidFill>
                <a:latin typeface="Gill Sans MT" panose="020B0502020104020203" pitchFamily="34" charset="0"/>
              </a:rPr>
              <a:t>JSON con información adicional</a:t>
            </a:r>
          </a:p>
        </p:txBody>
      </p:sp>
    </p:spTree>
    <p:extLst>
      <p:ext uri="{BB962C8B-B14F-4D97-AF65-F5344CB8AC3E}">
        <p14:creationId xmlns:p14="http://schemas.microsoft.com/office/powerpoint/2010/main" val="22461112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764</TotalTime>
  <Words>1640</Words>
  <Application>Microsoft Office PowerPoint</Application>
  <PresentationFormat>Panorámica</PresentationFormat>
  <Paragraphs>194</Paragraphs>
  <Slides>6</Slides>
  <Notes>6</Notes>
  <HiddenSlides>1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Courier New</vt:lpstr>
      <vt:lpstr>Gill Sans MT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maria isabel castrejon</dc:creator>
  <cp:lastModifiedBy>maria isabel castrejon</cp:lastModifiedBy>
  <cp:revision>23</cp:revision>
  <cp:lastPrinted>2026-03-04T12:36:33Z</cp:lastPrinted>
  <dcterms:created xsi:type="dcterms:W3CDTF">2026-03-02T10:39:17Z</dcterms:created>
  <dcterms:modified xsi:type="dcterms:W3CDTF">2026-03-04T12:40:54Z</dcterms:modified>
</cp:coreProperties>
</file>