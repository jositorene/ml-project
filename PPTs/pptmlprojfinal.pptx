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9" r:id="rId4"/>
    <p:sldId id="261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80258" autoAdjust="0"/>
  </p:normalViewPr>
  <p:slideViewPr>
    <p:cSldViewPr snapToGrid="0">
      <p:cViewPr>
        <p:scale>
          <a:sx n="60" d="100"/>
          <a:sy n="60" d="100"/>
        </p:scale>
        <p:origin x="360" y="-222"/>
      </p:cViewPr>
      <p:guideLst/>
    </p:cSldViewPr>
  </p:slideViewPr>
  <p:notesTextViewPr>
    <p:cViewPr>
      <p:scale>
        <a:sx n="1" d="1"/>
        <a:sy n="1" d="1"/>
      </p:scale>
      <p:origin x="0" y="-150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103C7A-5576-412E-8AF3-45221989F582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012F16-04CC-40FC-A987-7CD477DD5A1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5437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Limpieza eficiente de datos mediante librerías de NLP como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NLTK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(Natural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Toolkit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 </a:t>
            </a:r>
            <a:r>
              <a:rPr lang="es-E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 </a:t>
            </a:r>
            <a:r>
              <a:rPr lang="es-E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ingredient-parser-nlp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</a:t>
            </a:r>
          </a:p>
          <a:p>
            <a:endParaRPr lang="es-ES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NLTK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(Natural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Toolkit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</a:t>
            </a:r>
            <a:r>
              <a:rPr lang="es-ES" dirty="0"/>
              <a:t>es una de las bibliotecas más populares de </a:t>
            </a:r>
            <a:r>
              <a:rPr lang="es-ES" b="1" dirty="0">
                <a:effectLst/>
              </a:rPr>
              <a:t>Python</a:t>
            </a:r>
            <a:r>
              <a:rPr lang="es-ES" dirty="0"/>
              <a:t> diseñadas para trabajar con datos de lenguaje humano. 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Permite realizar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tokenización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(dividir texto en palabras u oraciones), clasificación de texto, lematización, análisis de sentimientos y etiquetado de partes del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discurso.</a:t>
            </a:r>
            <a:r>
              <a:rPr lang="es-E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spaCy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s-ES" dirty="0"/>
              <a:t>biblioteca de </a:t>
            </a:r>
            <a:r>
              <a:rPr lang="es-ES" b="1" dirty="0">
                <a:effectLst/>
              </a:rPr>
              <a:t>código abierto</a:t>
            </a:r>
            <a:r>
              <a:rPr lang="es-ES" dirty="0"/>
              <a:t> para el Procesamiento de Lenguaje Natural (PLN) en </a:t>
            </a:r>
            <a:r>
              <a:rPr lang="es-ES" b="1" dirty="0">
                <a:effectLst/>
              </a:rPr>
              <a:t>Python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diseñada específicamente para ser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rápida y lista para producción. 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escrita en </a:t>
            </a:r>
            <a:r>
              <a:rPr lang="es-E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Cython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E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Tokenización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Divide el texto en palabras de forma inteligente.</a:t>
            </a:r>
          </a:p>
          <a:p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Lematización: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Reduce las palabras a su raíz (ej. "zanahorias" a "zanahoria").</a:t>
            </a:r>
          </a:p>
          <a:p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Reconocimiento de Entidades (NER):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Identifica nombres, lugares o, en tu caso, ingredientes </a:t>
            </a:r>
            <a:r>
              <a:rPr lang="es-E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específicos.</a:t>
            </a:r>
          </a:p>
          <a:p>
            <a:r>
              <a:rPr lang="es-ES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Vectores 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palabras: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Soporta </a:t>
            </a: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Word2Vec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 forma nativa para medir qué tan parecidas son dos palabras numéricamente.</a:t>
            </a:r>
          </a:p>
          <a:p>
            <a:br>
              <a:rPr lang="es-ES" dirty="0"/>
            </a:br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TF-IDF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Frequency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-Inverse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Frequency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es un algoritmo estadístico que mide qué tan importante es una palabra dentro de un documento en comparación con todo un conjunto de documentos (corpus).</a:t>
            </a:r>
          </a:p>
          <a:p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tu proyecto de recetas, funciona así:</a:t>
            </a:r>
          </a:p>
          <a:p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 (Frecuencia de Término):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Cuenta cuántas veces aparece un ingrediente en una receta específica. Si una receta dice "sal" cinco veces, su importancia local sube.</a:t>
            </a:r>
          </a:p>
          <a:p>
            <a:r>
              <a:rPr lang="es-E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IDF (Frecuencia Inversa de Documento):</a:t>
            </a:r>
            <a:r>
              <a:rPr lang="es-E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Penaliza las palabras que aparecen en casi todas las recetas (como "sal" o "agua") y da más valor a las palabras únicas (como "azafrán" o "curry").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012F16-04CC-40FC-A987-7CD477DD5A1B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6887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7563C0-09B0-DE74-6502-A02B5BFAFA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F59426-6502-8ABD-C69F-029DF3A8C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705B96-8007-DDC5-4BB3-59CB4648F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D4D4-3FC9-4F91-8FF5-2B385C67F278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39C88DD-97EC-E935-DE1D-D35AEF9974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73241C-BB3C-7A48-8E4B-811E437C5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2C718-3C54-4525-976E-8E886071D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69302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11D01-68D3-5500-CAD6-FF2610F12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822DC50-B366-B51D-9D17-62F07A5FD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D50323-988C-382A-5925-14360757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D4D4-3FC9-4F91-8FF5-2B385C67F278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154543-DD76-9051-6039-CBB26EE9A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68DBFD-DC11-BD59-5E92-4FE3024C8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2C718-3C54-4525-976E-8E886071D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534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C9F065-B05C-DB9E-B85D-7D4344FB7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0AA2C7-AC50-029A-EA47-02861A1A4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94B575-63C3-213A-7343-4E6052E93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D4D4-3FC9-4F91-8FF5-2B385C67F278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92F01D-AE3F-C6AE-5DA7-7912D94D7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5215AD-5A74-5A83-C9F1-A7793E8C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2C718-3C54-4525-976E-8E886071D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1343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375448-D7BB-CEDB-F952-DE19043D1A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BEA3D0-4E41-7912-96DE-63566E5272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FDADAFD-5FDF-E7AB-A796-9183753609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EB3F7C-AFD2-1696-4F47-0EFE5D94C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D4D4-3FC9-4F91-8FF5-2B385C67F278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12DF18F-73C8-C123-3358-A59B6B306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CF5AAF0-8FC7-0451-5D34-3AC54F57B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2C718-3C54-4525-976E-8E886071D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4023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B58576-427E-DD93-6584-D7D8A0BDF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B2BE48-D5F5-A397-822B-E23D034CF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26DCFFB-D1DF-8985-6CBF-DD1E46549C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22CBB5A-C99B-6739-4E2A-3EE7C130B0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38AE419-5211-5A5F-C03A-5E6C2F49E4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B088F9C-A63F-C3AB-E207-1247800E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D4D4-3FC9-4F91-8FF5-2B385C67F278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47DEB21-CAB9-EB3E-AD9C-1BB4AD849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A3086BC-D88C-926B-0E60-25604107E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2C718-3C54-4525-976E-8E886071D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768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D4D6B0-E349-D5E7-C056-8FA5C762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4976BB2-6EBF-0F86-60DA-09D95AE8F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D4D4-3FC9-4F91-8FF5-2B385C67F278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031474A-30D0-B26F-989F-1A7684B21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C58F40A-5D17-0C51-8C31-8F0BAD2D1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2C718-3C54-4525-976E-8E886071D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6746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70204FB-4D3B-D05E-8641-62778A6BA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D4D4-3FC9-4F91-8FF5-2B385C67F278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411757-27EF-046D-7A22-6901C633B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D5D548-A647-FA2F-8079-45A66F3F4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2C718-3C54-4525-976E-8E886071D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5197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94D89C-BFF1-0D1A-8286-319153EE3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7C6311-D510-F5EE-80C7-F7C96DC1F8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610158-5015-56C8-EC5C-EFC0391D86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793A6C-8537-B4BE-5947-17FCCC87A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D4D4-3FC9-4F91-8FF5-2B385C67F278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6431497-0D63-65BF-9F89-21E41195F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A216F7-53D8-BA83-D06D-B85E1A249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2C718-3C54-4525-976E-8E886071D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5640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0AC3C5-6FBD-FCF5-DBE2-7A910BF52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8E99F49-776C-7862-EF47-6144185652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D93D35-9E91-2963-8468-5B7BB4F6E5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D5E574-2280-4D2C-7FC8-E731470AE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D4D4-3FC9-4F91-8FF5-2B385C67F278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C4CE89-4285-27BF-4250-F68431FBD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288A8BF-6E8F-CCD6-FCD3-758374260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2C718-3C54-4525-976E-8E886071D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28406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F8373A-A26E-7CD2-13D8-2B1DAE954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A979FF-8EC5-9B1C-C6E1-9EB6E8CFA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11F484-ED8B-3B47-E489-16F0D338D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D4D4-3FC9-4F91-8FF5-2B385C67F278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261FCF-5698-5151-67E3-E341D233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463D2A-A180-504C-36C8-EF53A12E4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2C718-3C54-4525-976E-8E886071D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1163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8262677-056B-49E5-C126-71FC24ACB3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663F000-8891-D8DC-1476-5F6A666A4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788853-80FA-8B29-CA00-7A6D4B8CE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0D4D4-3FC9-4F91-8FF5-2B385C67F278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B7F6729-8C78-2B12-D4AD-524E8125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D715451-EE5F-B839-CFD5-E0E6B30DE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2C718-3C54-4525-976E-8E886071D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7241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7D25AA5-4F7E-EE0C-AB34-7FFF1C811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8909989-DDB6-A920-EA86-5004493C8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6D4FAF-6B6B-DBCF-EBA3-E80DE30C8C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0D4D4-3FC9-4F91-8FF5-2B385C67F278}" type="datetimeFigureOut">
              <a:rPr lang="es-ES" smtClean="0"/>
              <a:t>04/03/2026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53303C-9559-E0F4-91B9-9F9459D7E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39175A3-DEB3-211C-4FDE-9D8BD0858A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52C718-3C54-4525-976E-8E886071D11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7010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>
            <a:extLst>
              <a:ext uri="{FF2B5EF4-FFF2-40B4-BE49-F238E27FC236}">
                <a16:creationId xmlns:a16="http://schemas.microsoft.com/office/drawing/2014/main" id="{E854370F-DEAC-AF19-28D5-53D28187FF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522" y="5257804"/>
            <a:ext cx="597388" cy="59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4" name="Grupo 33">
            <a:extLst>
              <a:ext uri="{FF2B5EF4-FFF2-40B4-BE49-F238E27FC236}">
                <a16:creationId xmlns:a16="http://schemas.microsoft.com/office/drawing/2014/main" id="{FDDABA17-9489-912B-CAFF-54D6E1B062C5}"/>
              </a:ext>
            </a:extLst>
          </p:cNvPr>
          <p:cNvGrpSpPr/>
          <p:nvPr/>
        </p:nvGrpSpPr>
        <p:grpSpPr>
          <a:xfrm>
            <a:off x="3309894" y="5254194"/>
            <a:ext cx="1182523" cy="597391"/>
            <a:chOff x="8706189" y="2176268"/>
            <a:chExt cx="1767847" cy="864523"/>
          </a:xfrm>
        </p:grpSpPr>
        <p:sp>
          <p:nvSpPr>
            <p:cNvPr id="30" name="Flecha: a la derecha con muesca 29">
              <a:extLst>
                <a:ext uri="{FF2B5EF4-FFF2-40B4-BE49-F238E27FC236}">
                  <a16:creationId xmlns:a16="http://schemas.microsoft.com/office/drawing/2014/main" id="{1C4B6DDD-2576-82E0-D63A-C288A5D0D484}"/>
                </a:ext>
              </a:extLst>
            </p:cNvPr>
            <p:cNvSpPr/>
            <p:nvPr/>
          </p:nvSpPr>
          <p:spPr>
            <a:xfrm>
              <a:off x="9376756" y="2176268"/>
              <a:ext cx="1097280" cy="864523"/>
            </a:xfrm>
            <a:prstGeom prst="notchedRightArrow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1" name="Medio marco 30">
              <a:extLst>
                <a:ext uri="{FF2B5EF4-FFF2-40B4-BE49-F238E27FC236}">
                  <a16:creationId xmlns:a16="http://schemas.microsoft.com/office/drawing/2014/main" id="{B0A78210-C84C-BC09-7E36-C302B4996CFE}"/>
                </a:ext>
              </a:extLst>
            </p:cNvPr>
            <p:cNvSpPr>
              <a:spLocks/>
            </p:cNvSpPr>
            <p:nvPr/>
          </p:nvSpPr>
          <p:spPr>
            <a:xfrm rot="8102682">
              <a:off x="9132131" y="2455807"/>
              <a:ext cx="306000" cy="306000"/>
            </a:xfrm>
            <a:prstGeom prst="halfFrame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noProof="0" dirty="0">
                <a:solidFill>
                  <a:schemeClr val="tx1"/>
                </a:solidFill>
              </a:endParaRPr>
            </a:p>
          </p:txBody>
        </p:sp>
        <p:sp>
          <p:nvSpPr>
            <p:cNvPr id="32" name="Medio marco 31">
              <a:extLst>
                <a:ext uri="{FF2B5EF4-FFF2-40B4-BE49-F238E27FC236}">
                  <a16:creationId xmlns:a16="http://schemas.microsoft.com/office/drawing/2014/main" id="{24CE8BE6-6222-8B5E-3BFB-45DAE6AFBA9B}"/>
                </a:ext>
              </a:extLst>
            </p:cNvPr>
            <p:cNvSpPr>
              <a:spLocks/>
            </p:cNvSpPr>
            <p:nvPr/>
          </p:nvSpPr>
          <p:spPr>
            <a:xfrm rot="8102682">
              <a:off x="8911310" y="2453587"/>
              <a:ext cx="306000" cy="306000"/>
            </a:xfrm>
            <a:prstGeom prst="halfFrame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noProof="0" dirty="0">
                <a:solidFill>
                  <a:schemeClr val="tx1"/>
                </a:solidFill>
              </a:endParaRPr>
            </a:p>
          </p:txBody>
        </p:sp>
        <p:sp>
          <p:nvSpPr>
            <p:cNvPr id="33" name="Medio marco 32">
              <a:extLst>
                <a:ext uri="{FF2B5EF4-FFF2-40B4-BE49-F238E27FC236}">
                  <a16:creationId xmlns:a16="http://schemas.microsoft.com/office/drawing/2014/main" id="{15988FB5-EB18-487E-4BDC-F5F7897E271E}"/>
                </a:ext>
              </a:extLst>
            </p:cNvPr>
            <p:cNvSpPr>
              <a:spLocks/>
            </p:cNvSpPr>
            <p:nvPr/>
          </p:nvSpPr>
          <p:spPr>
            <a:xfrm rot="8102682">
              <a:off x="8706189" y="2455806"/>
              <a:ext cx="306000" cy="306000"/>
            </a:xfrm>
            <a:prstGeom prst="halfFrame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</p:grpSp>
      <p:pic>
        <p:nvPicPr>
          <p:cNvPr id="40" name="Picture 8">
            <a:extLst>
              <a:ext uri="{FF2B5EF4-FFF2-40B4-BE49-F238E27FC236}">
                <a16:creationId xmlns:a16="http://schemas.microsoft.com/office/drawing/2014/main" id="{B6A5C9D0-2D07-9B9F-523C-079D020F5F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969" y="5254195"/>
            <a:ext cx="597388" cy="59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" name="Grupo 40">
            <a:extLst>
              <a:ext uri="{FF2B5EF4-FFF2-40B4-BE49-F238E27FC236}">
                <a16:creationId xmlns:a16="http://schemas.microsoft.com/office/drawing/2014/main" id="{3F0B2C0F-B068-E1AC-E226-ECD59E76B67F}"/>
              </a:ext>
            </a:extLst>
          </p:cNvPr>
          <p:cNvGrpSpPr/>
          <p:nvPr/>
        </p:nvGrpSpPr>
        <p:grpSpPr>
          <a:xfrm>
            <a:off x="5442434" y="5252851"/>
            <a:ext cx="1182523" cy="597391"/>
            <a:chOff x="8706189" y="2176268"/>
            <a:chExt cx="1767847" cy="864523"/>
          </a:xfrm>
          <a:solidFill>
            <a:srgbClr val="0000FF"/>
          </a:solidFill>
        </p:grpSpPr>
        <p:sp>
          <p:nvSpPr>
            <p:cNvPr id="42" name="Flecha: a la derecha con muesca 41">
              <a:extLst>
                <a:ext uri="{FF2B5EF4-FFF2-40B4-BE49-F238E27FC236}">
                  <a16:creationId xmlns:a16="http://schemas.microsoft.com/office/drawing/2014/main" id="{F1F364F7-A239-65D3-9BB8-6CDBB72A9E43}"/>
                </a:ext>
              </a:extLst>
            </p:cNvPr>
            <p:cNvSpPr/>
            <p:nvPr/>
          </p:nvSpPr>
          <p:spPr>
            <a:xfrm>
              <a:off x="9376756" y="2176268"/>
              <a:ext cx="1097280" cy="864523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3" name="Medio marco 42">
              <a:extLst>
                <a:ext uri="{FF2B5EF4-FFF2-40B4-BE49-F238E27FC236}">
                  <a16:creationId xmlns:a16="http://schemas.microsoft.com/office/drawing/2014/main" id="{70B3438E-0068-768B-8215-62C5C2F99C83}"/>
                </a:ext>
              </a:extLst>
            </p:cNvPr>
            <p:cNvSpPr>
              <a:spLocks/>
            </p:cNvSpPr>
            <p:nvPr/>
          </p:nvSpPr>
          <p:spPr>
            <a:xfrm rot="8102682">
              <a:off x="9132131" y="2455807"/>
              <a:ext cx="306000" cy="306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noProof="0" dirty="0">
                <a:solidFill>
                  <a:schemeClr val="tx1"/>
                </a:solidFill>
              </a:endParaRPr>
            </a:p>
          </p:txBody>
        </p:sp>
        <p:sp>
          <p:nvSpPr>
            <p:cNvPr id="44" name="Medio marco 43">
              <a:extLst>
                <a:ext uri="{FF2B5EF4-FFF2-40B4-BE49-F238E27FC236}">
                  <a16:creationId xmlns:a16="http://schemas.microsoft.com/office/drawing/2014/main" id="{826D99D0-04A0-9EEC-DBC8-60412D8CEAAE}"/>
                </a:ext>
              </a:extLst>
            </p:cNvPr>
            <p:cNvSpPr>
              <a:spLocks/>
            </p:cNvSpPr>
            <p:nvPr/>
          </p:nvSpPr>
          <p:spPr>
            <a:xfrm rot="8102682">
              <a:off x="8911310" y="2453587"/>
              <a:ext cx="306000" cy="306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noProof="0" dirty="0">
                <a:solidFill>
                  <a:schemeClr val="tx1"/>
                </a:solidFill>
              </a:endParaRPr>
            </a:p>
          </p:txBody>
        </p:sp>
        <p:sp>
          <p:nvSpPr>
            <p:cNvPr id="45" name="Medio marco 44">
              <a:extLst>
                <a:ext uri="{FF2B5EF4-FFF2-40B4-BE49-F238E27FC236}">
                  <a16:creationId xmlns:a16="http://schemas.microsoft.com/office/drawing/2014/main" id="{6E89790A-F1C6-6848-DC50-498F3E3ECD7F}"/>
                </a:ext>
              </a:extLst>
            </p:cNvPr>
            <p:cNvSpPr>
              <a:spLocks/>
            </p:cNvSpPr>
            <p:nvPr/>
          </p:nvSpPr>
          <p:spPr>
            <a:xfrm rot="8102682">
              <a:off x="8706189" y="2455806"/>
              <a:ext cx="306000" cy="306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</p:grpSp>
      <p:pic>
        <p:nvPicPr>
          <p:cNvPr id="46" name="Picture 8">
            <a:extLst>
              <a:ext uri="{FF2B5EF4-FFF2-40B4-BE49-F238E27FC236}">
                <a16:creationId xmlns:a16="http://schemas.microsoft.com/office/drawing/2014/main" id="{7A91A9A3-B22C-CA82-53E9-1314ABAC4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3264" y="5251509"/>
            <a:ext cx="597388" cy="59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7" name="Grupo 46">
            <a:extLst>
              <a:ext uri="{FF2B5EF4-FFF2-40B4-BE49-F238E27FC236}">
                <a16:creationId xmlns:a16="http://schemas.microsoft.com/office/drawing/2014/main" id="{07C91716-F02B-05C9-EAB5-4D3EA2242270}"/>
              </a:ext>
            </a:extLst>
          </p:cNvPr>
          <p:cNvGrpSpPr/>
          <p:nvPr/>
        </p:nvGrpSpPr>
        <p:grpSpPr>
          <a:xfrm>
            <a:off x="7581585" y="5251508"/>
            <a:ext cx="1182523" cy="597391"/>
            <a:chOff x="8706189" y="2176268"/>
            <a:chExt cx="1767847" cy="864523"/>
          </a:xfrm>
          <a:solidFill>
            <a:srgbClr val="FF0000"/>
          </a:solidFill>
        </p:grpSpPr>
        <p:sp>
          <p:nvSpPr>
            <p:cNvPr id="48" name="Flecha: a la derecha con muesca 47">
              <a:extLst>
                <a:ext uri="{FF2B5EF4-FFF2-40B4-BE49-F238E27FC236}">
                  <a16:creationId xmlns:a16="http://schemas.microsoft.com/office/drawing/2014/main" id="{FA839294-3D25-5E25-956E-92C7C82CAE79}"/>
                </a:ext>
              </a:extLst>
            </p:cNvPr>
            <p:cNvSpPr/>
            <p:nvPr/>
          </p:nvSpPr>
          <p:spPr>
            <a:xfrm>
              <a:off x="9376756" y="2176268"/>
              <a:ext cx="1097280" cy="864523"/>
            </a:xfrm>
            <a:prstGeom prst="notchedRigh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9" name="Medio marco 48">
              <a:extLst>
                <a:ext uri="{FF2B5EF4-FFF2-40B4-BE49-F238E27FC236}">
                  <a16:creationId xmlns:a16="http://schemas.microsoft.com/office/drawing/2014/main" id="{B5826930-5AD3-CB1D-9C88-2626B59F5231}"/>
                </a:ext>
              </a:extLst>
            </p:cNvPr>
            <p:cNvSpPr>
              <a:spLocks/>
            </p:cNvSpPr>
            <p:nvPr/>
          </p:nvSpPr>
          <p:spPr>
            <a:xfrm rot="8102682">
              <a:off x="9132131" y="2455807"/>
              <a:ext cx="306000" cy="306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noProof="0" dirty="0">
                <a:solidFill>
                  <a:schemeClr val="tx1"/>
                </a:solidFill>
              </a:endParaRPr>
            </a:p>
          </p:txBody>
        </p:sp>
        <p:sp>
          <p:nvSpPr>
            <p:cNvPr id="50" name="Medio marco 49">
              <a:extLst>
                <a:ext uri="{FF2B5EF4-FFF2-40B4-BE49-F238E27FC236}">
                  <a16:creationId xmlns:a16="http://schemas.microsoft.com/office/drawing/2014/main" id="{0A4A77EB-7440-1D60-1E18-5C2EB1E84DE5}"/>
                </a:ext>
              </a:extLst>
            </p:cNvPr>
            <p:cNvSpPr>
              <a:spLocks/>
            </p:cNvSpPr>
            <p:nvPr/>
          </p:nvSpPr>
          <p:spPr>
            <a:xfrm rot="8102682">
              <a:off x="8911310" y="2453587"/>
              <a:ext cx="306000" cy="306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noProof="0" dirty="0">
                <a:solidFill>
                  <a:schemeClr val="tx1"/>
                </a:solidFill>
              </a:endParaRPr>
            </a:p>
          </p:txBody>
        </p:sp>
        <p:sp>
          <p:nvSpPr>
            <p:cNvPr id="51" name="Medio marco 50">
              <a:extLst>
                <a:ext uri="{FF2B5EF4-FFF2-40B4-BE49-F238E27FC236}">
                  <a16:creationId xmlns:a16="http://schemas.microsoft.com/office/drawing/2014/main" id="{E6DAAA4D-71C5-8780-7FB8-41C492B04179}"/>
                </a:ext>
              </a:extLst>
            </p:cNvPr>
            <p:cNvSpPr>
              <a:spLocks/>
            </p:cNvSpPr>
            <p:nvPr/>
          </p:nvSpPr>
          <p:spPr>
            <a:xfrm rot="8102682">
              <a:off x="8706189" y="2455806"/>
              <a:ext cx="306000" cy="306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</p:grpSp>
      <p:pic>
        <p:nvPicPr>
          <p:cNvPr id="52" name="Picture 8">
            <a:extLst>
              <a:ext uri="{FF2B5EF4-FFF2-40B4-BE49-F238E27FC236}">
                <a16:creationId xmlns:a16="http://schemas.microsoft.com/office/drawing/2014/main" id="{3C017054-A61C-0C4E-D33E-48C5CD769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4738" y="5257804"/>
            <a:ext cx="597388" cy="59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CuadroTexto 53">
            <a:extLst>
              <a:ext uri="{FF2B5EF4-FFF2-40B4-BE49-F238E27FC236}">
                <a16:creationId xmlns:a16="http://schemas.microsoft.com/office/drawing/2014/main" id="{DAFA6537-85DA-11BB-0AAF-31E3EA685332}"/>
              </a:ext>
            </a:extLst>
          </p:cNvPr>
          <p:cNvSpPr txBox="1"/>
          <p:nvPr/>
        </p:nvSpPr>
        <p:spPr>
          <a:xfrm>
            <a:off x="2120650" y="5004308"/>
            <a:ext cx="1575917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01_dataload.py</a:t>
            </a:r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6140F33D-CC52-730E-6888-214DDB578168}"/>
              </a:ext>
            </a:extLst>
          </p:cNvPr>
          <p:cNvSpPr txBox="1"/>
          <p:nvPr/>
        </p:nvSpPr>
        <p:spPr>
          <a:xfrm>
            <a:off x="4125428" y="5004308"/>
            <a:ext cx="1575917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02_dataloadStep2.py</a:t>
            </a: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64ED4035-4C63-2EB5-43ED-8E4D8739A78D}"/>
              </a:ext>
            </a:extLst>
          </p:cNvPr>
          <p:cNvSpPr txBox="1"/>
          <p:nvPr/>
        </p:nvSpPr>
        <p:spPr>
          <a:xfrm>
            <a:off x="6316247" y="5002470"/>
            <a:ext cx="1575917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03_vectorize.py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844650E7-B085-0CEF-D06D-7E96E8B269F5}"/>
              </a:ext>
            </a:extLst>
          </p:cNvPr>
          <p:cNvSpPr txBox="1"/>
          <p:nvPr/>
        </p:nvSpPr>
        <p:spPr>
          <a:xfrm>
            <a:off x="8596448" y="5002470"/>
            <a:ext cx="1575917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04_FAISS.py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5CB08843-5554-9B4A-E5A0-1DE1C4C9BE14}"/>
              </a:ext>
            </a:extLst>
          </p:cNvPr>
          <p:cNvSpPr txBox="1"/>
          <p:nvPr/>
        </p:nvSpPr>
        <p:spPr>
          <a:xfrm>
            <a:off x="4406529" y="2202768"/>
            <a:ext cx="941793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s-ES" sz="1100" b="1" dirty="0"/>
              <a:t>Web.py</a:t>
            </a:r>
          </a:p>
        </p:txBody>
      </p:sp>
      <p:grpSp>
        <p:nvGrpSpPr>
          <p:cNvPr id="1069" name="Grupo 1068">
            <a:extLst>
              <a:ext uri="{FF2B5EF4-FFF2-40B4-BE49-F238E27FC236}">
                <a16:creationId xmlns:a16="http://schemas.microsoft.com/office/drawing/2014/main" id="{E5AD601F-1874-4155-1839-A9E6F814304F}"/>
              </a:ext>
            </a:extLst>
          </p:cNvPr>
          <p:cNvGrpSpPr/>
          <p:nvPr/>
        </p:nvGrpSpPr>
        <p:grpSpPr>
          <a:xfrm>
            <a:off x="4164558" y="792227"/>
            <a:ext cx="1425733" cy="1428288"/>
            <a:chOff x="4164558" y="792227"/>
            <a:chExt cx="1425733" cy="1428288"/>
          </a:xfrm>
        </p:grpSpPr>
        <p:pic>
          <p:nvPicPr>
            <p:cNvPr id="1040" name="Picture 16" descr="Computer User Size Icon PNG Transparent Background, Free Download #16389 -  FreeIconsPNG">
              <a:extLst>
                <a:ext uri="{FF2B5EF4-FFF2-40B4-BE49-F238E27FC236}">
                  <a16:creationId xmlns:a16="http://schemas.microsoft.com/office/drawing/2014/main" id="{ADF6C933-E35F-CDED-99FD-267ED8D3E8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4558" y="794782"/>
              <a:ext cx="1425733" cy="1425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B7D29BDD-3B27-2E67-85F2-1D9D18B57C08}"/>
                </a:ext>
              </a:extLst>
            </p:cNvPr>
            <p:cNvSpPr txBox="1"/>
            <p:nvPr/>
          </p:nvSpPr>
          <p:spPr>
            <a:xfrm>
              <a:off x="4417544" y="792227"/>
              <a:ext cx="941793" cy="169277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es-ES" sz="1100" b="1" dirty="0" err="1"/>
                <a:t>Streamlit</a:t>
              </a:r>
              <a:endParaRPr lang="es-ES" sz="1100" b="1" dirty="0"/>
            </a:p>
          </p:txBody>
        </p: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1E724651-2A88-FE6A-83D4-11F99C6A358E}"/>
              </a:ext>
            </a:extLst>
          </p:cNvPr>
          <p:cNvGrpSpPr/>
          <p:nvPr/>
        </p:nvGrpSpPr>
        <p:grpSpPr>
          <a:xfrm>
            <a:off x="2755448" y="1171209"/>
            <a:ext cx="941793" cy="735407"/>
            <a:chOff x="336247" y="1142406"/>
            <a:chExt cx="941793" cy="735407"/>
          </a:xfrm>
        </p:grpSpPr>
        <p:pic>
          <p:nvPicPr>
            <p:cNvPr id="1042" name="Picture 18" descr="Vegetable - Free food icons">
              <a:extLst>
                <a:ext uri="{FF2B5EF4-FFF2-40B4-BE49-F238E27FC236}">
                  <a16:creationId xmlns:a16="http://schemas.microsoft.com/office/drawing/2014/main" id="{7462FCF5-2210-E812-DC53-A2990E91EE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472" y="1142406"/>
              <a:ext cx="599181" cy="5991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872C2DC2-EDF9-0F75-60B9-756474310802}"/>
                </a:ext>
              </a:extLst>
            </p:cNvPr>
            <p:cNvSpPr txBox="1"/>
            <p:nvPr/>
          </p:nvSpPr>
          <p:spPr>
            <a:xfrm>
              <a:off x="336247" y="1708536"/>
              <a:ext cx="941793" cy="169277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en-US" sz="1100" b="1" noProof="0" dirty="0"/>
                <a:t>Fridge Image</a:t>
              </a:r>
            </a:p>
          </p:txBody>
        </p:sp>
      </p:grpSp>
      <p:pic>
        <p:nvPicPr>
          <p:cNvPr id="1044" name="Picture 20" descr="Icono de Machine Learning Generic Blue | Freepik">
            <a:extLst>
              <a:ext uri="{FF2B5EF4-FFF2-40B4-BE49-F238E27FC236}">
                <a16:creationId xmlns:a16="http://schemas.microsoft.com/office/drawing/2014/main" id="{BDCBFCB9-17BC-1EB3-532A-499E29DD4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9062" y="1085398"/>
            <a:ext cx="1069570" cy="106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CuadroTexto 62">
            <a:extLst>
              <a:ext uri="{FF2B5EF4-FFF2-40B4-BE49-F238E27FC236}">
                <a16:creationId xmlns:a16="http://schemas.microsoft.com/office/drawing/2014/main" id="{19C1815F-2876-0E02-CBBC-E2DC8BCBC3C0}"/>
              </a:ext>
            </a:extLst>
          </p:cNvPr>
          <p:cNvSpPr txBox="1"/>
          <p:nvPr/>
        </p:nvSpPr>
        <p:spPr>
          <a:xfrm>
            <a:off x="6432950" y="2120286"/>
            <a:ext cx="941793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Gemini AI</a:t>
            </a:r>
          </a:p>
        </p:txBody>
      </p:sp>
      <p:sp>
        <p:nvSpPr>
          <p:cNvPr id="1024" name="CuadroTexto 1023">
            <a:extLst>
              <a:ext uri="{FF2B5EF4-FFF2-40B4-BE49-F238E27FC236}">
                <a16:creationId xmlns:a16="http://schemas.microsoft.com/office/drawing/2014/main" id="{7A8FD262-8452-5565-7F37-3FE1588EE3B0}"/>
              </a:ext>
            </a:extLst>
          </p:cNvPr>
          <p:cNvSpPr txBox="1"/>
          <p:nvPr/>
        </p:nvSpPr>
        <p:spPr>
          <a:xfrm>
            <a:off x="6431112" y="895578"/>
            <a:ext cx="941793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ML Model</a:t>
            </a:r>
          </a:p>
        </p:txBody>
      </p:sp>
      <p:pic>
        <p:nvPicPr>
          <p:cNvPr id="1046" name="Picture 22" descr="Json - Free interface icons">
            <a:extLst>
              <a:ext uri="{FF2B5EF4-FFF2-40B4-BE49-F238E27FC236}">
                <a16:creationId xmlns:a16="http://schemas.microsoft.com/office/drawing/2014/main" id="{2D7549CA-B7AF-3468-10E7-6652997671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6542" y="1160090"/>
            <a:ext cx="920186" cy="9201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5" name="CuadroTexto 1024">
            <a:extLst>
              <a:ext uri="{FF2B5EF4-FFF2-40B4-BE49-F238E27FC236}">
                <a16:creationId xmlns:a16="http://schemas.microsoft.com/office/drawing/2014/main" id="{26E8A88C-0D83-ADB4-59B2-E6E4F3E4674B}"/>
              </a:ext>
            </a:extLst>
          </p:cNvPr>
          <p:cNvSpPr txBox="1"/>
          <p:nvPr/>
        </p:nvSpPr>
        <p:spPr>
          <a:xfrm>
            <a:off x="8407368" y="2118448"/>
            <a:ext cx="941793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Ingredients</a:t>
            </a:r>
          </a:p>
        </p:txBody>
      </p:sp>
      <p:sp>
        <p:nvSpPr>
          <p:cNvPr id="1027" name="CuadroTexto 1026">
            <a:extLst>
              <a:ext uri="{FF2B5EF4-FFF2-40B4-BE49-F238E27FC236}">
                <a16:creationId xmlns:a16="http://schemas.microsoft.com/office/drawing/2014/main" id="{393A18F0-79AD-A54A-38A9-76CE3D773B85}"/>
              </a:ext>
            </a:extLst>
          </p:cNvPr>
          <p:cNvSpPr txBox="1"/>
          <p:nvPr/>
        </p:nvSpPr>
        <p:spPr>
          <a:xfrm>
            <a:off x="8335192" y="893740"/>
            <a:ext cx="941793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JSON Array</a:t>
            </a:r>
          </a:p>
        </p:txBody>
      </p:sp>
      <p:pic>
        <p:nvPicPr>
          <p:cNvPr id="1048" name="Picture 24" descr="Big data - Free electronics icons">
            <a:extLst>
              <a:ext uri="{FF2B5EF4-FFF2-40B4-BE49-F238E27FC236}">
                <a16:creationId xmlns:a16="http://schemas.microsoft.com/office/drawing/2014/main" id="{F316EC3D-293B-D9A6-C582-22D4099CCB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429" y="2965262"/>
            <a:ext cx="955228" cy="955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9" name="CuadroTexto 1028">
            <a:extLst>
              <a:ext uri="{FF2B5EF4-FFF2-40B4-BE49-F238E27FC236}">
                <a16:creationId xmlns:a16="http://schemas.microsoft.com/office/drawing/2014/main" id="{D488099A-38A9-0F14-C271-AFD950ED8B01}"/>
              </a:ext>
            </a:extLst>
          </p:cNvPr>
          <p:cNvSpPr txBox="1"/>
          <p:nvPr/>
        </p:nvSpPr>
        <p:spPr>
          <a:xfrm>
            <a:off x="984484" y="3915227"/>
            <a:ext cx="1073917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Full_dataset.csv</a:t>
            </a:r>
          </a:p>
        </p:txBody>
      </p:sp>
      <p:sp>
        <p:nvSpPr>
          <p:cNvPr id="1031" name="CuadroTexto 1030">
            <a:extLst>
              <a:ext uri="{FF2B5EF4-FFF2-40B4-BE49-F238E27FC236}">
                <a16:creationId xmlns:a16="http://schemas.microsoft.com/office/drawing/2014/main" id="{01AFB1C0-B0C2-AC8B-E6D6-551A7815F198}"/>
              </a:ext>
            </a:extLst>
          </p:cNvPr>
          <p:cNvSpPr txBox="1"/>
          <p:nvPr/>
        </p:nvSpPr>
        <p:spPr>
          <a:xfrm>
            <a:off x="1057260" y="2773495"/>
            <a:ext cx="941793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Kagle</a:t>
            </a:r>
          </a:p>
        </p:txBody>
      </p:sp>
      <p:sp>
        <p:nvSpPr>
          <p:cNvPr id="1033" name="CuadroTexto 1032">
            <a:extLst>
              <a:ext uri="{FF2B5EF4-FFF2-40B4-BE49-F238E27FC236}">
                <a16:creationId xmlns:a16="http://schemas.microsoft.com/office/drawing/2014/main" id="{1D0CF2C1-B1BA-D667-4655-FC2D2F160A25}"/>
              </a:ext>
            </a:extLst>
          </p:cNvPr>
          <p:cNvSpPr txBox="1"/>
          <p:nvPr/>
        </p:nvSpPr>
        <p:spPr>
          <a:xfrm>
            <a:off x="2120651" y="5918706"/>
            <a:ext cx="1575917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EDA - 1</a:t>
            </a:r>
          </a:p>
        </p:txBody>
      </p:sp>
      <p:sp>
        <p:nvSpPr>
          <p:cNvPr id="1035" name="CuadroTexto 1034">
            <a:extLst>
              <a:ext uri="{FF2B5EF4-FFF2-40B4-BE49-F238E27FC236}">
                <a16:creationId xmlns:a16="http://schemas.microsoft.com/office/drawing/2014/main" id="{604274B7-957D-41D0-3890-7F0222B8E73C}"/>
              </a:ext>
            </a:extLst>
          </p:cNvPr>
          <p:cNvSpPr txBox="1"/>
          <p:nvPr/>
        </p:nvSpPr>
        <p:spPr>
          <a:xfrm>
            <a:off x="4125429" y="5918706"/>
            <a:ext cx="1575917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EDA - 2</a:t>
            </a:r>
          </a:p>
        </p:txBody>
      </p:sp>
      <p:sp>
        <p:nvSpPr>
          <p:cNvPr id="1037" name="CuadroTexto 1036">
            <a:extLst>
              <a:ext uri="{FF2B5EF4-FFF2-40B4-BE49-F238E27FC236}">
                <a16:creationId xmlns:a16="http://schemas.microsoft.com/office/drawing/2014/main" id="{82A5768B-6234-34AF-0FA5-5A8890B179B5}"/>
              </a:ext>
            </a:extLst>
          </p:cNvPr>
          <p:cNvSpPr txBox="1"/>
          <p:nvPr/>
        </p:nvSpPr>
        <p:spPr>
          <a:xfrm>
            <a:off x="6316248" y="5916868"/>
            <a:ext cx="1575917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Recipes - 1</a:t>
            </a:r>
          </a:p>
        </p:txBody>
      </p:sp>
      <p:sp>
        <p:nvSpPr>
          <p:cNvPr id="1039" name="CuadroTexto 1038">
            <a:extLst>
              <a:ext uri="{FF2B5EF4-FFF2-40B4-BE49-F238E27FC236}">
                <a16:creationId xmlns:a16="http://schemas.microsoft.com/office/drawing/2014/main" id="{BAEE5E9F-E6E8-9D47-3366-550E97770618}"/>
              </a:ext>
            </a:extLst>
          </p:cNvPr>
          <p:cNvSpPr txBox="1"/>
          <p:nvPr/>
        </p:nvSpPr>
        <p:spPr>
          <a:xfrm>
            <a:off x="8596449" y="5916868"/>
            <a:ext cx="1575917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Recipes - 2</a:t>
            </a:r>
          </a:p>
        </p:txBody>
      </p:sp>
      <p:sp>
        <p:nvSpPr>
          <p:cNvPr id="1043" name="Rectángulo: esquinas redondeadas 1042">
            <a:extLst>
              <a:ext uri="{FF2B5EF4-FFF2-40B4-BE49-F238E27FC236}">
                <a16:creationId xmlns:a16="http://schemas.microsoft.com/office/drawing/2014/main" id="{C8BF37AD-7CB6-6B2F-EBD7-248416FCB051}"/>
              </a:ext>
            </a:extLst>
          </p:cNvPr>
          <p:cNvSpPr/>
          <p:nvPr/>
        </p:nvSpPr>
        <p:spPr>
          <a:xfrm>
            <a:off x="2505658" y="480447"/>
            <a:ext cx="7180783" cy="2293048"/>
          </a:xfrm>
          <a:prstGeom prst="roundRect">
            <a:avLst/>
          </a:prstGeom>
          <a:noFill/>
          <a:ln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45" name="Rectángulo: esquinas redondeadas 1044">
            <a:extLst>
              <a:ext uri="{FF2B5EF4-FFF2-40B4-BE49-F238E27FC236}">
                <a16:creationId xmlns:a16="http://schemas.microsoft.com/office/drawing/2014/main" id="{35DE65CD-14AE-368D-53AD-A19FD1D5B00D}"/>
              </a:ext>
            </a:extLst>
          </p:cNvPr>
          <p:cNvSpPr/>
          <p:nvPr/>
        </p:nvSpPr>
        <p:spPr>
          <a:xfrm>
            <a:off x="1709467" y="4309982"/>
            <a:ext cx="8798099" cy="2293048"/>
          </a:xfrm>
          <a:prstGeom prst="roundRect">
            <a:avLst/>
          </a:prstGeom>
          <a:noFill/>
          <a:ln>
            <a:solidFill>
              <a:srgbClr val="0000FF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049" name="Conector recto de flecha 1048">
            <a:extLst>
              <a:ext uri="{FF2B5EF4-FFF2-40B4-BE49-F238E27FC236}">
                <a16:creationId xmlns:a16="http://schemas.microsoft.com/office/drawing/2014/main" id="{BEFD1E79-289D-896B-4AA1-51F535407321}"/>
              </a:ext>
            </a:extLst>
          </p:cNvPr>
          <p:cNvCxnSpPr>
            <a:cxnSpLocks/>
          </p:cNvCxnSpPr>
          <p:nvPr/>
        </p:nvCxnSpPr>
        <p:spPr>
          <a:xfrm>
            <a:off x="3680797" y="1705255"/>
            <a:ext cx="444631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Conector recto de flecha 1050">
            <a:extLst>
              <a:ext uri="{FF2B5EF4-FFF2-40B4-BE49-F238E27FC236}">
                <a16:creationId xmlns:a16="http://schemas.microsoft.com/office/drawing/2014/main" id="{08A29BE8-F05C-FF47-0DFD-A8D6CE7DB8CB}"/>
              </a:ext>
            </a:extLst>
          </p:cNvPr>
          <p:cNvCxnSpPr>
            <a:cxnSpLocks/>
          </p:cNvCxnSpPr>
          <p:nvPr/>
        </p:nvCxnSpPr>
        <p:spPr>
          <a:xfrm>
            <a:off x="5742212" y="1697235"/>
            <a:ext cx="444631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Conector recto de flecha 1051">
            <a:extLst>
              <a:ext uri="{FF2B5EF4-FFF2-40B4-BE49-F238E27FC236}">
                <a16:creationId xmlns:a16="http://schemas.microsoft.com/office/drawing/2014/main" id="{111A9F97-763A-AB12-4775-AE657E43AF74}"/>
              </a:ext>
            </a:extLst>
          </p:cNvPr>
          <p:cNvCxnSpPr>
            <a:cxnSpLocks/>
          </p:cNvCxnSpPr>
          <p:nvPr/>
        </p:nvCxnSpPr>
        <p:spPr>
          <a:xfrm>
            <a:off x="7691331" y="1705257"/>
            <a:ext cx="444631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66" name="Grupo 1065">
            <a:extLst>
              <a:ext uri="{FF2B5EF4-FFF2-40B4-BE49-F238E27FC236}">
                <a16:creationId xmlns:a16="http://schemas.microsoft.com/office/drawing/2014/main" id="{E7BDC9CA-68D7-EB72-42FD-5078E56F3D6A}"/>
              </a:ext>
            </a:extLst>
          </p:cNvPr>
          <p:cNvGrpSpPr/>
          <p:nvPr/>
        </p:nvGrpSpPr>
        <p:grpSpPr>
          <a:xfrm>
            <a:off x="1528156" y="4120759"/>
            <a:ext cx="915528" cy="1440917"/>
            <a:chOff x="1528156" y="4120759"/>
            <a:chExt cx="915528" cy="1440917"/>
          </a:xfrm>
        </p:grpSpPr>
        <p:cxnSp>
          <p:nvCxnSpPr>
            <p:cNvPr id="1053" name="Conector recto de flecha 1052">
              <a:extLst>
                <a:ext uri="{FF2B5EF4-FFF2-40B4-BE49-F238E27FC236}">
                  <a16:creationId xmlns:a16="http://schemas.microsoft.com/office/drawing/2014/main" id="{0FEF8B46-8B98-86FB-8E32-7C47BC059FF0}"/>
                </a:ext>
              </a:extLst>
            </p:cNvPr>
            <p:cNvCxnSpPr>
              <a:cxnSpLocks/>
            </p:cNvCxnSpPr>
            <p:nvPr/>
          </p:nvCxnSpPr>
          <p:spPr>
            <a:xfrm>
              <a:off x="1528156" y="5561676"/>
              <a:ext cx="915528" cy="0"/>
            </a:xfrm>
            <a:prstGeom prst="straightConnector1">
              <a:avLst/>
            </a:prstGeom>
            <a:ln w="38100" cap="rnd">
              <a:solidFill>
                <a:srgbClr val="0000FF"/>
              </a:solidFill>
              <a:round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Conector recto 1060">
              <a:extLst>
                <a:ext uri="{FF2B5EF4-FFF2-40B4-BE49-F238E27FC236}">
                  <a16:creationId xmlns:a16="http://schemas.microsoft.com/office/drawing/2014/main" id="{54C1AF00-3653-11A6-825D-E072E2726D9C}"/>
                </a:ext>
              </a:extLst>
            </p:cNvPr>
            <p:cNvCxnSpPr>
              <a:cxnSpLocks/>
            </p:cNvCxnSpPr>
            <p:nvPr/>
          </p:nvCxnSpPr>
          <p:spPr>
            <a:xfrm>
              <a:off x="1528156" y="4120759"/>
              <a:ext cx="0" cy="1435740"/>
            </a:xfrm>
            <a:prstGeom prst="line">
              <a:avLst/>
            </a:prstGeom>
            <a:ln w="38100" cap="rnd">
              <a:solidFill>
                <a:srgbClr val="0000FF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7" name="CuadroTexto 1066">
            <a:extLst>
              <a:ext uri="{FF2B5EF4-FFF2-40B4-BE49-F238E27FC236}">
                <a16:creationId xmlns:a16="http://schemas.microsoft.com/office/drawing/2014/main" id="{E6FB8254-F4D3-F934-4B43-CA36041C8E2B}"/>
              </a:ext>
            </a:extLst>
          </p:cNvPr>
          <p:cNvSpPr txBox="1"/>
          <p:nvPr/>
        </p:nvSpPr>
        <p:spPr>
          <a:xfrm>
            <a:off x="8320834" y="232761"/>
            <a:ext cx="941793" cy="215444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400" b="1" dirty="0"/>
              <a:t>Model 1</a:t>
            </a:r>
            <a:endParaRPr lang="en-US" sz="1400" b="1" noProof="0" dirty="0"/>
          </a:p>
        </p:txBody>
      </p:sp>
      <p:sp>
        <p:nvSpPr>
          <p:cNvPr id="1068" name="CuadroTexto 1067">
            <a:extLst>
              <a:ext uri="{FF2B5EF4-FFF2-40B4-BE49-F238E27FC236}">
                <a16:creationId xmlns:a16="http://schemas.microsoft.com/office/drawing/2014/main" id="{35990EA7-830C-A076-701C-A99363CB339A}"/>
              </a:ext>
            </a:extLst>
          </p:cNvPr>
          <p:cNvSpPr txBox="1"/>
          <p:nvPr/>
        </p:nvSpPr>
        <p:spPr>
          <a:xfrm>
            <a:off x="8473234" y="4084326"/>
            <a:ext cx="941793" cy="215444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400" b="1" dirty="0"/>
              <a:t>Model 2</a:t>
            </a:r>
            <a:endParaRPr lang="en-US" sz="1400" b="1" noProof="0" dirty="0"/>
          </a:p>
        </p:txBody>
      </p:sp>
    </p:spTree>
    <p:extLst>
      <p:ext uri="{BB962C8B-B14F-4D97-AF65-F5344CB8AC3E}">
        <p14:creationId xmlns:p14="http://schemas.microsoft.com/office/powerpoint/2010/main" val="2490197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57" grpId="0"/>
      <p:bldP spid="58" grpId="0"/>
      <p:bldP spid="63" grpId="0"/>
      <p:bldP spid="1024" grpId="0"/>
      <p:bldP spid="1025" grpId="0"/>
      <p:bldP spid="1027" grpId="0"/>
      <p:bldP spid="1029" grpId="0"/>
      <p:bldP spid="1031" grpId="0"/>
      <p:bldP spid="1033" grpId="0"/>
      <p:bldP spid="1035" grpId="0"/>
      <p:bldP spid="1037" grpId="0"/>
      <p:bldP spid="1039" grpId="0"/>
      <p:bldP spid="1043" grpId="0" animBg="1"/>
      <p:bldP spid="1045" grpId="0" animBg="1"/>
      <p:bldP spid="1067" grpId="0"/>
      <p:bldP spid="106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BA1B5-EE1B-74A9-EB2A-E9813EFB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850499DB-A579-32D9-229C-66640A00A8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7951" y="2823085"/>
            <a:ext cx="597388" cy="597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6CCF8B0-3E98-5626-3343-2F6DA80ED070}"/>
              </a:ext>
            </a:extLst>
          </p:cNvPr>
          <p:cNvSpPr txBox="1"/>
          <p:nvPr/>
        </p:nvSpPr>
        <p:spPr>
          <a:xfrm>
            <a:off x="1339661" y="2567751"/>
            <a:ext cx="1575917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04_FAISS.py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97A1F8B-0190-DF76-0E53-D7C390CC5153}"/>
              </a:ext>
            </a:extLst>
          </p:cNvPr>
          <p:cNvSpPr txBox="1"/>
          <p:nvPr/>
        </p:nvSpPr>
        <p:spPr>
          <a:xfrm>
            <a:off x="1339662" y="3482149"/>
            <a:ext cx="1575917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1100" b="1" noProof="0" dirty="0"/>
              <a:t>Recipes - JSON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74B91270-11A0-6814-A520-1D4663B2DFA4}"/>
              </a:ext>
            </a:extLst>
          </p:cNvPr>
          <p:cNvGrpSpPr/>
          <p:nvPr/>
        </p:nvGrpSpPr>
        <p:grpSpPr>
          <a:xfrm>
            <a:off x="3488680" y="2366071"/>
            <a:ext cx="1425733" cy="1428288"/>
            <a:chOff x="4164558" y="792227"/>
            <a:chExt cx="1425733" cy="1428288"/>
          </a:xfrm>
        </p:grpSpPr>
        <p:pic>
          <p:nvPicPr>
            <p:cNvPr id="6" name="Picture 16" descr="Computer User Size Icon PNG Transparent Background, Free Download #16389 -  FreeIconsPNG">
              <a:extLst>
                <a:ext uri="{FF2B5EF4-FFF2-40B4-BE49-F238E27FC236}">
                  <a16:creationId xmlns:a16="http://schemas.microsoft.com/office/drawing/2014/main" id="{DB58E3E6-A9BD-9585-E9C8-1F228279DE6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64558" y="794782"/>
              <a:ext cx="1425733" cy="14257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EC9CDC53-A313-2212-9228-A97C52AACFEF}"/>
                </a:ext>
              </a:extLst>
            </p:cNvPr>
            <p:cNvSpPr txBox="1"/>
            <p:nvPr/>
          </p:nvSpPr>
          <p:spPr>
            <a:xfrm>
              <a:off x="4417544" y="792227"/>
              <a:ext cx="941793" cy="169277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es-ES" sz="1100" b="1" dirty="0" err="1"/>
                <a:t>Streamlit</a:t>
              </a:r>
              <a:endParaRPr lang="es-ES" sz="1100" b="1" dirty="0"/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F423AC0A-7DA4-EEFC-F252-C05087A15966}"/>
              </a:ext>
            </a:extLst>
          </p:cNvPr>
          <p:cNvSpPr txBox="1"/>
          <p:nvPr/>
        </p:nvSpPr>
        <p:spPr>
          <a:xfrm>
            <a:off x="3741666" y="3818260"/>
            <a:ext cx="941793" cy="169277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s-ES" sz="1100" b="1" dirty="0"/>
              <a:t>Web.py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D3FD98A5-3883-18AE-A2E3-7E92493893EC}"/>
              </a:ext>
            </a:extLst>
          </p:cNvPr>
          <p:cNvCxnSpPr>
            <a:cxnSpLocks/>
          </p:cNvCxnSpPr>
          <p:nvPr/>
        </p:nvCxnSpPr>
        <p:spPr>
          <a:xfrm>
            <a:off x="2744811" y="3146881"/>
            <a:ext cx="444631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A93478E5-6882-99CF-A6F5-B6FF5BE8B867}"/>
              </a:ext>
            </a:extLst>
          </p:cNvPr>
          <p:cNvCxnSpPr>
            <a:cxnSpLocks/>
          </p:cNvCxnSpPr>
          <p:nvPr/>
        </p:nvCxnSpPr>
        <p:spPr>
          <a:xfrm>
            <a:off x="8037241" y="2800512"/>
            <a:ext cx="444631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Webpage - Free seo and web icons">
            <a:extLst>
              <a:ext uri="{FF2B5EF4-FFF2-40B4-BE49-F238E27FC236}">
                <a16:creationId xmlns:a16="http://schemas.microsoft.com/office/drawing/2014/main" id="{59AD1C7E-7A7F-FEA9-1F14-493EE0B0A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686" y="866662"/>
            <a:ext cx="4876800" cy="487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97C01AFC-761B-62EA-DE4E-23C9917D0022}"/>
              </a:ext>
            </a:extLst>
          </p:cNvPr>
          <p:cNvCxnSpPr>
            <a:cxnSpLocks/>
          </p:cNvCxnSpPr>
          <p:nvPr/>
        </p:nvCxnSpPr>
        <p:spPr>
          <a:xfrm>
            <a:off x="5307902" y="3146881"/>
            <a:ext cx="444631" cy="0"/>
          </a:xfrm>
          <a:prstGeom prst="straightConnector1">
            <a:avLst/>
          </a:prstGeom>
          <a:ln w="38100">
            <a:solidFill>
              <a:srgbClr val="0000F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9613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5AEBC-BB1D-534E-490C-ED2F9852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FFD7BEF-121C-51A2-5610-95C1CE47C548}"/>
              </a:ext>
            </a:extLst>
          </p:cNvPr>
          <p:cNvSpPr txBox="1"/>
          <p:nvPr/>
        </p:nvSpPr>
        <p:spPr>
          <a:xfrm>
            <a:off x="980301" y="1387728"/>
            <a:ext cx="10610335" cy="1778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§"/>
            </a:pPr>
            <a:r>
              <a:rPr lang="es-ES" b="1" dirty="0" err="1"/>
              <a:t>Dataset</a:t>
            </a:r>
            <a:r>
              <a:rPr lang="es-ES" b="1" dirty="0"/>
              <a:t> </a:t>
            </a:r>
            <a:r>
              <a:rPr lang="es-ES" b="1" dirty="0" err="1"/>
              <a:t>Preparation</a:t>
            </a:r>
            <a:r>
              <a:rPr lang="es-ES" b="1" dirty="0"/>
              <a:t> </a:t>
            </a:r>
            <a:r>
              <a:rPr lang="es-ES" dirty="0"/>
              <a:t>– P </a:t>
            </a:r>
            <a:r>
              <a:rPr lang="es-ES" dirty="0" err="1"/>
              <a:t>reprocess</a:t>
            </a:r>
            <a:r>
              <a:rPr lang="es-ES" dirty="0"/>
              <a:t> 2 </a:t>
            </a:r>
            <a:r>
              <a:rPr lang="es-ES" dirty="0" err="1"/>
              <a:t>million</a:t>
            </a:r>
            <a:r>
              <a:rPr lang="es-ES" dirty="0"/>
              <a:t> </a:t>
            </a:r>
            <a:r>
              <a:rPr lang="es-ES" dirty="0" err="1"/>
              <a:t>Kaggle</a:t>
            </a:r>
            <a:r>
              <a:rPr lang="es-ES" dirty="0"/>
              <a:t> </a:t>
            </a:r>
            <a:r>
              <a:rPr lang="es-ES" dirty="0" err="1"/>
              <a:t>recipes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convert</a:t>
            </a:r>
            <a:r>
              <a:rPr lang="es-ES" dirty="0"/>
              <a:t> raw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into</a:t>
            </a:r>
            <a:r>
              <a:rPr lang="es-ES" dirty="0"/>
              <a:t> a </a:t>
            </a:r>
            <a:r>
              <a:rPr lang="es-ES" dirty="0" err="1"/>
              <a:t>model-ready</a:t>
            </a:r>
            <a:r>
              <a:rPr lang="es-ES" dirty="0"/>
              <a:t> </a:t>
            </a:r>
            <a:r>
              <a:rPr lang="es-ES" dirty="0" err="1"/>
              <a:t>format</a:t>
            </a:r>
            <a:r>
              <a:rPr lang="es-ES" dirty="0"/>
              <a:t>.</a:t>
            </a: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§"/>
            </a:pPr>
            <a:r>
              <a:rPr lang="es-ES" b="1" dirty="0"/>
              <a:t>Data </a:t>
            </a:r>
            <a:r>
              <a:rPr lang="es-ES" b="1" dirty="0" err="1"/>
              <a:t>Refinement</a:t>
            </a:r>
            <a:r>
              <a:rPr lang="es-ES" dirty="0"/>
              <a:t> – </a:t>
            </a:r>
            <a:r>
              <a:rPr lang="es-ES" dirty="0" err="1"/>
              <a:t>Extract</a:t>
            </a:r>
            <a:r>
              <a:rPr lang="es-ES" dirty="0"/>
              <a:t> </a:t>
            </a:r>
            <a:r>
              <a:rPr lang="es-ES" dirty="0" err="1"/>
              <a:t>core</a:t>
            </a:r>
            <a:r>
              <a:rPr lang="es-ES" dirty="0"/>
              <a:t> "</a:t>
            </a:r>
            <a:r>
              <a:rPr lang="es-ES" dirty="0" err="1"/>
              <a:t>food</a:t>
            </a:r>
            <a:r>
              <a:rPr lang="es-ES" dirty="0"/>
              <a:t> </a:t>
            </a:r>
            <a:r>
              <a:rPr lang="es-ES" dirty="0" err="1"/>
              <a:t>words</a:t>
            </a:r>
            <a:r>
              <a:rPr lang="es-ES" dirty="0"/>
              <a:t>"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normalizing</a:t>
            </a:r>
            <a:r>
              <a:rPr lang="es-ES" dirty="0"/>
              <a:t> </a:t>
            </a:r>
            <a:r>
              <a:rPr lang="es-ES" dirty="0" err="1"/>
              <a:t>text</a:t>
            </a:r>
            <a:r>
              <a:rPr lang="es-ES" dirty="0"/>
              <a:t> and </a:t>
            </a:r>
            <a:r>
              <a:rPr lang="es-ES" dirty="0" err="1"/>
              <a:t>removing</a:t>
            </a:r>
            <a:r>
              <a:rPr lang="es-ES" dirty="0"/>
              <a:t> </a:t>
            </a:r>
            <a:r>
              <a:rPr lang="es-ES" dirty="0" err="1"/>
              <a:t>units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measure</a:t>
            </a:r>
            <a:r>
              <a:rPr lang="es-ES" dirty="0"/>
              <a:t>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noise</a:t>
            </a:r>
            <a:r>
              <a:rPr lang="es-ES" dirty="0"/>
              <a:t>.</a:t>
            </a: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§"/>
            </a:pPr>
            <a:r>
              <a:rPr lang="es-ES" b="1" dirty="0" err="1"/>
              <a:t>Technical</a:t>
            </a:r>
            <a:r>
              <a:rPr lang="es-ES" b="1" dirty="0"/>
              <a:t> </a:t>
            </a:r>
            <a:r>
              <a:rPr lang="es-ES" b="1" dirty="0" err="1"/>
              <a:t>Implementation</a:t>
            </a:r>
            <a:r>
              <a:rPr lang="es-ES" dirty="0"/>
              <a:t> – Automate </a:t>
            </a:r>
            <a:r>
              <a:rPr lang="es-ES" dirty="0" err="1"/>
              <a:t>text</a:t>
            </a:r>
            <a:r>
              <a:rPr lang="es-ES" dirty="0"/>
              <a:t> </a:t>
            </a:r>
            <a:r>
              <a:rPr lang="es-ES" dirty="0" err="1"/>
              <a:t>cleaning</a:t>
            </a:r>
            <a:r>
              <a:rPr lang="es-ES" dirty="0"/>
              <a:t> </a:t>
            </a:r>
            <a:r>
              <a:rPr lang="es-ES" dirty="0" err="1"/>
              <a:t>using</a:t>
            </a:r>
            <a:r>
              <a:rPr lang="es-ES" dirty="0"/>
              <a:t> </a:t>
            </a:r>
            <a:r>
              <a:rPr lang="es-ES" dirty="0" err="1"/>
              <a:t>specialized</a:t>
            </a:r>
            <a:r>
              <a:rPr lang="es-ES" dirty="0"/>
              <a:t> </a:t>
            </a:r>
            <a:r>
              <a:rPr lang="es-ES" dirty="0" err="1"/>
              <a:t>libraries</a:t>
            </a:r>
            <a:r>
              <a:rPr lang="es-ES" dirty="0"/>
              <a:t> </a:t>
            </a:r>
            <a:r>
              <a:rPr lang="es-ES" dirty="0" err="1"/>
              <a:t>like</a:t>
            </a:r>
            <a:r>
              <a:rPr lang="es-ES" dirty="0"/>
              <a:t> NLTK, </a:t>
            </a:r>
            <a:r>
              <a:rPr lang="es-ES" dirty="0" err="1"/>
              <a:t>spaCy</a:t>
            </a:r>
            <a:r>
              <a:rPr lang="es-ES" dirty="0"/>
              <a:t>, </a:t>
            </a:r>
            <a:r>
              <a:rPr lang="es-ES" dirty="0" err="1"/>
              <a:t>or</a:t>
            </a:r>
            <a:r>
              <a:rPr lang="es-ES" dirty="0"/>
              <a:t> </a:t>
            </a:r>
            <a:r>
              <a:rPr lang="es-ES" dirty="0" err="1"/>
              <a:t>ingredient-parser-nlp</a:t>
            </a:r>
            <a:r>
              <a:rPr lang="es-ES" dirty="0"/>
              <a:t>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68A2C9B-5F9E-FDDC-5712-3BADC3ABB046}"/>
              </a:ext>
            </a:extLst>
          </p:cNvPr>
          <p:cNvSpPr txBox="1"/>
          <p:nvPr/>
        </p:nvSpPr>
        <p:spPr>
          <a:xfrm>
            <a:off x="601364" y="1018396"/>
            <a:ext cx="609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1. EDA – Data Processing</a:t>
            </a:r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D57A7C0-76E2-EC37-5D47-0CED5A2276C7}"/>
              </a:ext>
            </a:extLst>
          </p:cNvPr>
          <p:cNvSpPr txBox="1"/>
          <p:nvPr/>
        </p:nvSpPr>
        <p:spPr>
          <a:xfrm>
            <a:off x="984416" y="3606797"/>
            <a:ext cx="10610335" cy="1214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Numerical Conversion</a:t>
            </a:r>
            <a:r>
              <a:rPr lang="en-US" dirty="0"/>
              <a:t> – Transform ingredient lists into mathematical vectors to provide the numerical input required by machine learning models.</a:t>
            </a: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§"/>
            </a:pPr>
            <a:r>
              <a:rPr lang="en-US" b="1" dirty="0"/>
              <a:t>Vectorization Techniques</a:t>
            </a:r>
            <a:r>
              <a:rPr lang="en-US" dirty="0"/>
              <a:t> – Apply TF-IDF to weigh unique ingredients or Word2Vec to capture semantic relationships like "tomato" and "basil."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02408DB-3733-7DA7-3C81-8A8744A1A067}"/>
              </a:ext>
            </a:extLst>
          </p:cNvPr>
          <p:cNvSpPr txBox="1"/>
          <p:nvPr/>
        </p:nvSpPr>
        <p:spPr>
          <a:xfrm>
            <a:off x="605479" y="3237465"/>
            <a:ext cx="609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2. Vectorization</a:t>
            </a:r>
            <a:r>
              <a:rPr lang="es-ES" b="1" dirty="0"/>
              <a:t> – </a:t>
            </a:r>
            <a:r>
              <a:rPr lang="en-US" b="1" dirty="0"/>
              <a:t>Convert Ingredients </a:t>
            </a:r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E1C5BED-ABFA-BCA8-2CB4-15EC50987A49}"/>
              </a:ext>
            </a:extLst>
          </p:cNvPr>
          <p:cNvSpPr txBox="1"/>
          <p:nvPr/>
        </p:nvSpPr>
        <p:spPr>
          <a:xfrm>
            <a:off x="599302" y="4890102"/>
            <a:ext cx="609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Implement a Similarity Search</a:t>
            </a:r>
            <a:endParaRPr lang="es-E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DF93C65-6B09-2219-D085-5EEC187659A2}"/>
              </a:ext>
            </a:extLst>
          </p:cNvPr>
          <p:cNvSpPr txBox="1"/>
          <p:nvPr/>
        </p:nvSpPr>
        <p:spPr>
          <a:xfrm>
            <a:off x="980300" y="5271220"/>
            <a:ext cx="10610335" cy="1214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§"/>
            </a:pPr>
            <a:r>
              <a:rPr lang="es-ES" b="1" dirty="0" err="1"/>
              <a:t>Efficient</a:t>
            </a:r>
            <a:r>
              <a:rPr lang="es-ES" b="1" dirty="0"/>
              <a:t> </a:t>
            </a:r>
            <a:r>
              <a:rPr lang="es-ES" b="1" dirty="0" err="1"/>
              <a:t>Indexing</a:t>
            </a:r>
            <a:r>
              <a:rPr lang="es-ES" dirty="0"/>
              <a:t> – Use </a:t>
            </a:r>
            <a:r>
              <a:rPr lang="es-ES" b="1" dirty="0"/>
              <a:t>FAISS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build</a:t>
            </a:r>
            <a:r>
              <a:rPr lang="es-ES" dirty="0"/>
              <a:t> a </a:t>
            </a:r>
            <a:r>
              <a:rPr lang="es-ES" dirty="0" err="1"/>
              <a:t>high</a:t>
            </a:r>
            <a:r>
              <a:rPr lang="es-ES" dirty="0"/>
              <a:t>-performance </a:t>
            </a:r>
            <a:r>
              <a:rPr lang="es-ES" dirty="0" err="1"/>
              <a:t>index</a:t>
            </a:r>
            <a:r>
              <a:rPr lang="es-ES" dirty="0"/>
              <a:t> </a:t>
            </a:r>
            <a:r>
              <a:rPr lang="es-ES" dirty="0" err="1"/>
              <a:t>that</a:t>
            </a:r>
            <a:r>
              <a:rPr lang="es-ES" dirty="0"/>
              <a:t> </a:t>
            </a:r>
            <a:r>
              <a:rPr lang="es-ES" dirty="0" err="1"/>
              <a:t>enables</a:t>
            </a:r>
            <a:r>
              <a:rPr lang="es-ES" dirty="0"/>
              <a:t> </a:t>
            </a:r>
            <a:r>
              <a:rPr lang="es-ES" dirty="0" err="1"/>
              <a:t>ultra-fast</a:t>
            </a:r>
            <a:r>
              <a:rPr lang="es-ES" dirty="0"/>
              <a:t> </a:t>
            </a:r>
            <a:r>
              <a:rPr lang="es-ES" dirty="0" err="1"/>
              <a:t>similarity</a:t>
            </a:r>
            <a:r>
              <a:rPr lang="es-ES" dirty="0"/>
              <a:t> </a:t>
            </a:r>
            <a:r>
              <a:rPr lang="es-ES" dirty="0" err="1"/>
              <a:t>searches</a:t>
            </a:r>
            <a:r>
              <a:rPr lang="es-ES" dirty="0"/>
              <a:t> </a:t>
            </a:r>
            <a:r>
              <a:rPr lang="es-ES" dirty="0" err="1"/>
              <a:t>across</a:t>
            </a:r>
            <a:r>
              <a:rPr lang="es-ES" dirty="0"/>
              <a:t> 2 </a:t>
            </a:r>
            <a:r>
              <a:rPr lang="es-ES" dirty="0" err="1"/>
              <a:t>million</a:t>
            </a:r>
            <a:r>
              <a:rPr lang="es-ES" dirty="0"/>
              <a:t> </a:t>
            </a:r>
            <a:r>
              <a:rPr lang="es-ES" dirty="0" err="1"/>
              <a:t>recipe</a:t>
            </a:r>
            <a:r>
              <a:rPr lang="es-ES" dirty="0"/>
              <a:t> </a:t>
            </a:r>
            <a:r>
              <a:rPr lang="es-ES" dirty="0" err="1"/>
              <a:t>vectors</a:t>
            </a:r>
            <a:r>
              <a:rPr lang="es-ES" dirty="0"/>
              <a:t>.</a:t>
            </a:r>
          </a:p>
          <a:p>
            <a:pPr marL="285750" indent="-285750">
              <a:lnSpc>
                <a:spcPts val="2200"/>
              </a:lnSpc>
              <a:buFont typeface="Wingdings" panose="05000000000000000000" pitchFamily="2" charset="2"/>
              <a:buChar char="§"/>
            </a:pPr>
            <a:r>
              <a:rPr lang="es-ES" b="1" dirty="0" err="1"/>
              <a:t>Memory</a:t>
            </a:r>
            <a:r>
              <a:rPr lang="es-ES" b="1" dirty="0"/>
              <a:t> </a:t>
            </a:r>
            <a:r>
              <a:rPr lang="es-ES" b="1" dirty="0" err="1"/>
              <a:t>Optimization</a:t>
            </a:r>
            <a:r>
              <a:rPr lang="es-ES" dirty="0"/>
              <a:t> – </a:t>
            </a:r>
            <a:r>
              <a:rPr lang="es-ES" dirty="0" err="1"/>
              <a:t>Implement</a:t>
            </a:r>
            <a:r>
              <a:rPr lang="es-ES" dirty="0"/>
              <a:t> </a:t>
            </a:r>
            <a:r>
              <a:rPr lang="es-ES" dirty="0" err="1"/>
              <a:t>Approximate</a:t>
            </a:r>
            <a:r>
              <a:rPr lang="es-ES" dirty="0"/>
              <a:t> </a:t>
            </a:r>
            <a:r>
              <a:rPr lang="es-ES" b="1" dirty="0" err="1"/>
              <a:t>Nearest</a:t>
            </a:r>
            <a:r>
              <a:rPr lang="es-ES" b="1" dirty="0"/>
              <a:t> </a:t>
            </a:r>
            <a:r>
              <a:rPr lang="es-ES" b="1" dirty="0" err="1"/>
              <a:t>Neighbor</a:t>
            </a:r>
            <a:r>
              <a:rPr lang="es-ES" b="1" dirty="0"/>
              <a:t> (ANN) </a:t>
            </a:r>
            <a:r>
              <a:rPr lang="es-ES" dirty="0" err="1"/>
              <a:t>search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bypass </a:t>
            </a:r>
            <a:r>
              <a:rPr lang="es-ES" dirty="0" err="1"/>
              <a:t>the</a:t>
            </a:r>
            <a:r>
              <a:rPr lang="es-ES" dirty="0"/>
              <a:t> RAM </a:t>
            </a:r>
            <a:r>
              <a:rPr lang="es-ES" dirty="0" err="1"/>
              <a:t>limits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a standard </a:t>
            </a:r>
            <a:r>
              <a:rPr lang="es-ES" dirty="0" err="1"/>
              <a:t>similarity</a:t>
            </a:r>
            <a:r>
              <a:rPr lang="es-ES" dirty="0"/>
              <a:t> </a:t>
            </a:r>
            <a:r>
              <a:rPr lang="es-ES" dirty="0" err="1"/>
              <a:t>matrix</a:t>
            </a:r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C40C078-A392-8A90-B507-F8C23989D5F1}"/>
              </a:ext>
            </a:extLst>
          </p:cNvPr>
          <p:cNvSpPr txBox="1"/>
          <p:nvPr/>
        </p:nvSpPr>
        <p:spPr>
          <a:xfrm>
            <a:off x="2689654" y="260439"/>
            <a:ext cx="5814266" cy="615553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4000" b="1" dirty="0"/>
              <a:t>Model 2</a:t>
            </a:r>
            <a:endParaRPr lang="en-US" sz="4000" b="1" noProof="0" dirty="0"/>
          </a:p>
        </p:txBody>
      </p:sp>
    </p:spTree>
    <p:extLst>
      <p:ext uri="{BB962C8B-B14F-4D97-AF65-F5344CB8AC3E}">
        <p14:creationId xmlns:p14="http://schemas.microsoft.com/office/powerpoint/2010/main" val="2655563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295E0-80B8-32E6-EE9D-139EBF857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uadroTexto 11">
            <a:extLst>
              <a:ext uri="{FF2B5EF4-FFF2-40B4-BE49-F238E27FC236}">
                <a16:creationId xmlns:a16="http://schemas.microsoft.com/office/drawing/2014/main" id="{02EDD460-7AC4-4950-23C9-C81B874DBCB8}"/>
              </a:ext>
            </a:extLst>
          </p:cNvPr>
          <p:cNvSpPr txBox="1"/>
          <p:nvPr/>
        </p:nvSpPr>
        <p:spPr>
          <a:xfrm>
            <a:off x="599302" y="1301082"/>
            <a:ext cx="6091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Implement a Similarity Search - FAISS</a:t>
            </a:r>
            <a:endParaRPr lang="es-ES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3D4847B-1249-5823-B0D4-954C51EE17B6}"/>
              </a:ext>
            </a:extLst>
          </p:cNvPr>
          <p:cNvSpPr txBox="1"/>
          <p:nvPr/>
        </p:nvSpPr>
        <p:spPr>
          <a:xfrm>
            <a:off x="2689654" y="260439"/>
            <a:ext cx="5814266" cy="615553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sz="4000" b="1" dirty="0"/>
              <a:t>Model 2</a:t>
            </a:r>
            <a:endParaRPr lang="en-US" sz="4000" b="1" noProof="0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7F93DB2-0849-F4B7-3175-FE7380339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94219"/>
              </p:ext>
            </p:extLst>
          </p:nvPr>
        </p:nvGraphicFramePr>
        <p:xfrm>
          <a:off x="1147134" y="1997329"/>
          <a:ext cx="9256048" cy="14316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28762">
                  <a:extLst>
                    <a:ext uri="{9D8B030D-6E8A-4147-A177-3AD203B41FA5}">
                      <a16:colId xmlns:a16="http://schemas.microsoft.com/office/drawing/2014/main" val="3132304834"/>
                    </a:ext>
                  </a:extLst>
                </a:gridCol>
                <a:gridCol w="3041051">
                  <a:extLst>
                    <a:ext uri="{9D8B030D-6E8A-4147-A177-3AD203B41FA5}">
                      <a16:colId xmlns:a16="http://schemas.microsoft.com/office/drawing/2014/main" val="4252431257"/>
                    </a:ext>
                  </a:extLst>
                </a:gridCol>
                <a:gridCol w="3086235">
                  <a:extLst>
                    <a:ext uri="{9D8B030D-6E8A-4147-A177-3AD203B41FA5}">
                      <a16:colId xmlns:a16="http://schemas.microsoft.com/office/drawing/2014/main" val="1437032344"/>
                    </a:ext>
                  </a:extLst>
                </a:gridCol>
              </a:tblGrid>
              <a:tr h="60451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90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Dataset</a:t>
                      </a:r>
                      <a:r>
                        <a:rPr lang="es-ES" sz="19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</a:t>
                      </a:r>
                      <a:r>
                        <a:rPr lang="es-ES" sz="190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Size</a:t>
                      </a:r>
                      <a:endParaRPr lang="es-ES" sz="19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698" marR="1176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90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Recommended</a:t>
                      </a:r>
                      <a:r>
                        <a:rPr lang="es-ES" sz="19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Tool</a:t>
                      </a:r>
                      <a:endParaRPr lang="es-ES" sz="19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698" marR="117698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90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Complexity</a:t>
                      </a:r>
                      <a:endParaRPr lang="es-ES" sz="19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698" marR="117698" marT="0" marB="0" anchor="ctr"/>
                </a:tc>
                <a:extLst>
                  <a:ext uri="{0D108BD9-81ED-4DB2-BD59-A6C34878D82A}">
                    <a16:rowId xmlns:a16="http://schemas.microsoft.com/office/drawing/2014/main" val="2116652707"/>
                  </a:ext>
                </a:extLst>
              </a:tr>
              <a:tr h="2713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700">
                          <a:effectLst/>
                        </a:rPr>
                        <a:t>Small (&lt;10k)</a:t>
                      </a:r>
                      <a:endParaRPr lang="es-E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698" marR="117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700">
                          <a:effectLst/>
                        </a:rPr>
                        <a:t>cosine_similarity</a:t>
                      </a:r>
                      <a:endParaRPr lang="es-E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698" marR="117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700">
                          <a:effectLst/>
                        </a:rPr>
                        <a:t>Very Low</a:t>
                      </a:r>
                      <a:endParaRPr lang="es-E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698" marR="117698" marT="0" marB="0" anchor="ctr"/>
                </a:tc>
                <a:extLst>
                  <a:ext uri="{0D108BD9-81ED-4DB2-BD59-A6C34878D82A}">
                    <a16:rowId xmlns:a16="http://schemas.microsoft.com/office/drawing/2014/main" val="1143079630"/>
                  </a:ext>
                </a:extLst>
              </a:tr>
              <a:tr h="28443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700">
                          <a:effectLst/>
                        </a:rPr>
                        <a:t>Medium (10k - 500k)</a:t>
                      </a:r>
                      <a:endParaRPr lang="es-E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698" marR="117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700">
                          <a:effectLst/>
                        </a:rPr>
                        <a:t>NearestNeighbors</a:t>
                      </a:r>
                      <a:endParaRPr lang="es-E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698" marR="117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700">
                          <a:effectLst/>
                        </a:rPr>
                        <a:t>Low</a:t>
                      </a:r>
                      <a:endParaRPr lang="es-E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698" marR="117698" marT="0" marB="0" anchor="ctr"/>
                </a:tc>
                <a:extLst>
                  <a:ext uri="{0D108BD9-81ED-4DB2-BD59-A6C34878D82A}">
                    <a16:rowId xmlns:a16="http://schemas.microsoft.com/office/drawing/2014/main" val="2448989753"/>
                  </a:ext>
                </a:extLst>
              </a:tr>
              <a:tr h="27136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700">
                          <a:effectLst/>
                        </a:rPr>
                        <a:t>Large (500k+)</a:t>
                      </a:r>
                      <a:endParaRPr lang="es-E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698" marR="117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700">
                          <a:effectLst/>
                        </a:rPr>
                        <a:t>FAISS or Pinecone</a:t>
                      </a:r>
                      <a:endParaRPr lang="es-ES" sz="19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698" marR="117698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ES" sz="1700" dirty="0">
                          <a:effectLst/>
                        </a:rPr>
                        <a:t>Medium/High</a:t>
                      </a:r>
                      <a:endParaRPr lang="es-ES" sz="19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17698" marR="117698" marT="0" marB="0" anchor="ctr"/>
                </a:tc>
                <a:extLst>
                  <a:ext uri="{0D108BD9-81ED-4DB2-BD59-A6C34878D82A}">
                    <a16:rowId xmlns:a16="http://schemas.microsoft.com/office/drawing/2014/main" val="1982556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74060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555</Words>
  <Application>Microsoft Office PowerPoint</Application>
  <PresentationFormat>Panorámica</PresentationFormat>
  <Paragraphs>59</Paragraphs>
  <Slides>4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Wingdings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Rene Fuentes Cortez</dc:creator>
  <cp:lastModifiedBy>Jose Rene Fuentes Cortez</cp:lastModifiedBy>
  <cp:revision>7</cp:revision>
  <dcterms:created xsi:type="dcterms:W3CDTF">2026-03-04T10:51:17Z</dcterms:created>
  <dcterms:modified xsi:type="dcterms:W3CDTF">2026-03-04T13:54:01Z</dcterms:modified>
</cp:coreProperties>
</file>